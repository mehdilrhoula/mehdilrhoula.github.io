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Bonjour, je vais vous présenter le portfolio que j’ai réalisé dans le cadre de ma formation à Epitech. Je voulais créer un site qui me représente et qui puisse aussi être consulté par un recruteur. L’objectif de la présentation est de montrer mes choix de conception, les fonctionnalités et les enseignements tirés de ce projet.</a:t>
            </a:r>
          </a:p>
          <a:p/>
          <a:p>
            <a:r>
              <a:t>DÉMONSTRATION EN DIRECT :</a:t>
            </a:r>
          </a:p>
          <a:p>
            <a:r>
              <a:t>Clique sur « OUVRIR LE SITE ». Montre ta vraie page d’accueil et ta photo. Reviens au diaporama.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Le fil rouge de mon site, c’est ma réorientation vers l’informatique. J’ai auparavant évolué dans le business et la gestion de projet. Je veux aujourd’hui compléter cette expérience par des compétences techniques, avec à terme un objectif de chef de projet informatique. J’ai donc choisi des contenus qui montrent cette progression.</a:t>
            </a:r>
          </a:p>
          <a:p/>
          <a:p>
            <a:r>
              <a:t>DÉMONSTRATION EN DIRECT :</a:t>
            </a:r>
          </a:p>
          <a:p>
            <a:r>
              <a:t>Montre brièvement le plan de la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J’ai réparti le site en cinq pages : accueil, projets, compétences, expériences et contact. Ce choix permet de ne pas concentrer toutes les informations sur une seule page. La navigation reste commune pour qu’on sache toujours où l’on se trouve et comment changer de rubrique.</a:t>
            </a:r>
          </a:p>
          <a:p/>
          <a:p>
            <a:r>
              <a:t>DÉMONSTRATION EN DIRECT :</a:t>
            </a:r>
          </a:p>
          <a:p>
            <a:r>
              <a:t>Ouvre le site. Clique successivement sur Accueil, Projets, Compétences, Expériences puis Contact.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Pour le design, je suis parti d’une charte cohérente : bleu nuit pour la structure, bleu vif pour les actions, blanc pour les cartes et fond clair. J’ai utilisé une police sans-serif, des espacements constants, des bordures arrondies et des ombres discrètes. C’est visible en particulier dans la page Compétences.</a:t>
            </a:r>
          </a:p>
          <a:p/>
          <a:p>
            <a:r>
              <a:t>DÉMONSTRATION EN DIRECT :</a:t>
            </a:r>
          </a:p>
          <a:p>
            <a:r>
              <a:t>Ouvre la page Compétences et montre les cartes, les titres et les couleurs.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Le site devait être utilisable sur ordinateur et téléphone. J’ai utilisé des media queries, Flexbox et CSS Grid pour réorganiser les éléments selon la largeur de l’écran. Sur mobile, le menu devient un bouton hamburger, ce qui évite une navigation trop encombrante.</a:t>
            </a:r>
          </a:p>
          <a:p/>
          <a:p>
            <a:r>
              <a:t>DÉMONSTRATION EN DIRECT :</a:t>
            </a:r>
          </a:p>
          <a:p>
            <a:r>
              <a:t>Ouvre Accueil. Avec les outils développeur Chrome (F12), sélectionne iPhone SE puis ouvre et ferme le menu hamburger.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J’ai choisi des projets qui montrent des compétences différentes : PYJOBS pour React et les échanges avec une API Django, le Pendu pour Python et Pygame, CodingPedia pour HTML et CSS, Frigorithm pour la conception de produit, puis mon portfolio et mes ateliers de programmation. Pour chaque projet, je présente le contexte, mon travail et ce que j’ai appris.</a:t>
            </a:r>
          </a:p>
          <a:p/>
          <a:p>
            <a:r>
              <a:t>DÉMONSTRATION EN DIRECT :</a:t>
            </a:r>
          </a:p>
          <a:p>
            <a:r>
              <a:t>Ouvre Projets ; parcours les différentes fiches. Clique sur le dépôt public PYJOBS puis reviens.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Je ne voulais pas seulement décrire mes réalisations. J’ai donc intégré des captures d’écran dans un carrousel pour PYJOBS et une vidéo MP4 pour montrer le Pendu en fonctionnement. Là où je n’avais pas encore d’image adaptée, j’ai privilégié un texte descriptif plutôt qu’un visuel inutile. Les liens vers le code permettent aussi de consulter les preuves.</a:t>
            </a:r>
          </a:p>
          <a:p/>
          <a:p>
            <a:r>
              <a:t>DÉMONSTRATION EN DIRECT :</a:t>
            </a:r>
          </a:p>
          <a:p>
            <a:r>
              <a:t>Ouvre Projets. Fais défiler jusqu’à PYJOBS et clique sur les flèches du carrousel. Descends jusqu’au Pendu et lance la vidéo quelques secondes, puis arrête-la.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Sur l’accueil, j’ai mis un bouton de téléchargement du CV. Techniquement, il s’agit d’un lien HTML vers un fichier PDF présent dans le dossier documents, avec l’attribut download. Pour le formulaire, les champs nom, email et message sont contrôlés par le navigateur et JavaScript. Lors de l’envoi, une fenêtre de messagerie s’ouvre avec un email prérempli : l’utilisateur doit ensuite valider lui-même l’envoi.</a:t>
            </a:r>
          </a:p>
          <a:p/>
          <a:p>
            <a:r>
              <a:t>DÉMONSTRATION EN DIRECT :</a:t>
            </a:r>
          </a:p>
          <a:p>
            <a:r>
              <a:t>Clique sur TÉLÉCHARGER LE CV et montre le fichier. Ouvre Contact, remplis des données de démonstration et clique sur Envoyer. Ne confirme pas l’envoi.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Je voulais que le site soit lisible en français et en anglais sans avoir deux versions séparées des pages. Les textes sont associés à des clés data-i18n, dont les traductions sont centralisées dans lang.js. Un clic sur FR ou EN remplace les textes et localStorage mémorise le choix.</a:t>
            </a:r>
          </a:p>
          <a:p/>
          <a:p>
            <a:r>
              <a:t>DÉMONSTRATION EN DIRECT :</a:t>
            </a:r>
          </a:p>
          <a:p>
            <a:r>
              <a:t>Ouvre Accueil. Bascule en EN, change de page pour montrer que le choix est conservé, puis reviens en FR.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J’ai travaillé la structure HTML, les intitulés des champs, les textes alternatifs, les éléments interactifs accessibles au clavier et les métadonnées. Je me suis également assuré que la navigation fonctionne en mobile. L’idée n’était pas seulement de rendre le site joli, mais de le rendre compréhensible et utilisable.</a:t>
            </a:r>
          </a:p>
          <a:p/>
          <a:p>
            <a:r>
              <a:t>DÉMONSTRATION EN DIRECT :</a:t>
            </a:r>
          </a:p>
          <a:p>
            <a:r>
              <a:t>Montre éventuellement un formulaire avec ses labels ou le menu accessible au clavier.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Pour mesurer cette qualité, j’ai fait un audit Lighthouse en mode mobile sur ma page d’accueil. Le résultat le plus récent donne 99 sur 100 en performances et 100 sur 100 en accessibilité, en bonnes pratiques et en SEO. Ces chiffres concernent la page d’accueil testée ; les autres pages doivent faire l’objet du même contrôle.</a:t>
            </a:r>
          </a:p>
          <a:p/>
          <a:p>
            <a:r>
              <a:t>DÉMONSTRATION EN DIRECT :</a:t>
            </a:r>
          </a:p>
          <a:p>
            <a:r>
              <a:t>Montre les quatre scores sur la diapo et, si souhaité, la capture de ton audit Lighthouse.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Le portfolio raconte un parcours : je pars d’une expérience business et de coordination, puis j’ajoute progressivement du développement, des méthodes techniques et des projets concrets. Cette combinaison est ce que je veux mettre en avant auprès d’un futur employeur.</a:t>
            </a:r>
          </a:p>
          <a:p/>
          <a:p>
            <a:r>
              <a:t>DÉMONSTRATION EN DIRECT :</a:t>
            </a:r>
          </a:p>
          <a:p>
            <a:r>
              <a:t>Ouvre Expériences, puis Compétences, pour illustrer le lien entre savoir-faire métier et technique.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Le site repose sur des pages HTML, une feuille CSS partagée et des scripts JavaScript séparés. J’ai utilisé Git pour garder l’historique des modifications, et GitHub Pages pour publier automatiquement le site. Le README du dépôt explique l’organisation des fichiers et les modalités de publication.</a:t>
            </a:r>
          </a:p>
          <a:p/>
          <a:p>
            <a:r>
              <a:t>DÉMONSTRATION EN DIRECT :</a:t>
            </a:r>
          </a:p>
          <a:p>
            <a:r>
              <a:t>Clique sur le lien GitHub, montre le README puis reviens au diaporama.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J’ai rencontré trois difficultés. D’abord, il fallait tout tester : liens, formulaires, langues et affichage sur plusieurs tailles d’écran. Ma solution a été de vérifier progressivement les fonctionnalités et d’utiliser Lighthouse. Ensuite, j’ai dû m’organiser entre plusieurs pages et fichiers ; j’ai donc travaillé par étapes avec Git. Enfin, j’avais parfois plus d’idées que de temps ou de maîtrise technique. J’ai appris à prioriser et à choisir des solutions réalistes, comme mailto pour le formulaire.</a:t>
            </a:r>
          </a:p>
          <a:p/>
          <a:p>
            <a:r>
              <a:t>DÉMONSTRATION EN DIRECT :</a:t>
            </a:r>
          </a:p>
          <a:p>
            <a:r>
              <a:t>Ne fais pas de démo longue. Donne un exemple précis pour chacun des trois défis.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À L’ORAL :</a:t>
            </a:r>
          </a:p>
          <a:p>
            <a:r>
              <a:t>Pour conclure, ce portfolio n’est pas seulement une vitrine. C’est un projet évolutif qui me permet de montrer ce que j’apprends, de valoriser mes réalisations et d’expliquer mes choix. Mes prochaines étapes sont de poursuivre les audits sur les autres pages et d’ajouter mes futurs projets. Merci pour votre attention.</a:t>
            </a:r>
          </a:p>
          <a:p/>
          <a:p>
            <a:r>
              <a:t>DÉMONSTRATION EN DIRECT :</a:t>
            </a:r>
          </a:p>
          <a:p>
            <a:r>
              <a:t>Reste sur la conclusion, puis ouvre le site si le jury veut explorer un projet ou poser une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mehdilrhoula.github.io/" TargetMode="External"/><Relationship Id="rId5" Type="http://schemas.openxmlformats.org/officeDocument/2006/relationships/hyperlink" Target="https://mehdilrhoula.github.io/projets.html" TargetMode="External"/><Relationship Id="rId6" Type="http://schemas.openxmlformats.org/officeDocument/2006/relationships/hyperlink" Target="https://github.com/Mehdilrhoula" TargetMode="External"/><Relationship Id="rId7" Type="http://schemas.openxmlformats.org/officeDocument/2006/relationships/hyperlink" Target="https://www.linkedin.com/" TargetMode="External"/><Relationship Id="rId8" Type="http://schemas.openxmlformats.org/officeDocument/2006/relationships/hyperlink" Target="https://mehdilrhoula.github.io/documents/cv-mehdi-lrhoula.pdf" TargetMode="Externa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competences.html"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projets.html" TargetMode="External"/><Relationship Id="rId4" Type="http://schemas.openxmlformats.org/officeDocument/2006/relationships/hyperlink" Target="https://github.com/Mehdilrhoula/PYJOBS"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projets.html"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documents/cv-mehdi-lrhoula.pdf" TargetMode="External"/><Relationship Id="rId4" Type="http://schemas.openxmlformats.org/officeDocument/2006/relationships/hyperlink" Target="https://mehdilrhoula.github.io/contact.html" TargetMode="Externa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contact.html"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hyperlink" Target="https://mehdilrhoula.github.io/experiences.html" TargetMode="Externa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Mehdilrhoula"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mehdilrhoula.github.io/" TargetMode="External"/><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01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7589520" cy="320040"/>
          </a:xfrm>
          <a:prstGeom prst="rect">
            <a:avLst/>
          </a:prstGeom>
          <a:noFill/>
        </p:spPr>
        <p:txBody>
          <a:bodyPr wrap="none">
            <a:spAutoFit/>
          </a:bodyPr>
          <a:lstStyle/>
          <a:p>
            <a:r>
              <a:rPr sz="1400">
                <a:solidFill>
                  <a:srgbClr val="FFFFFF"/>
                </a:solidFill>
                <a:latin typeface="Aptos"/>
              </a:rPr>
              <a:t>Accueil   |   Projets   |   Compétences   |   Expériences   |   Contact</a:t>
            </a:r>
          </a:p>
        </p:txBody>
      </p:sp>
      <p:pic>
        <p:nvPicPr>
          <p:cNvPr id="4" name="Picture 3" descr="6cb4f4bc-9f12-5155-9f05-4fe7919aa056.png"/>
          <p:cNvPicPr>
            <a:picLocks noChangeAspect="1"/>
          </p:cNvPicPr>
          <p:nvPr/>
        </p:nvPicPr>
        <p:blipFill>
          <a:blip r:embed="rId2"/>
          <a:stretch>
            <a:fillRect/>
          </a:stretch>
        </p:blipFill>
        <p:spPr>
          <a:xfrm>
            <a:off x="10424160" y="27432"/>
            <a:ext cx="1097280" cy="1097280"/>
          </a:xfrm>
          <a:prstGeom prst="rect">
            <a:avLst/>
          </a:prstGeom>
        </p:spPr>
      </p:pic>
      <p:pic>
        <p:nvPicPr>
          <p:cNvPr id="5" name="Picture 4" descr="profile_crop.png"/>
          <p:cNvPicPr>
            <a:picLocks noChangeAspect="1"/>
          </p:cNvPicPr>
          <p:nvPr/>
        </p:nvPicPr>
        <p:blipFill>
          <a:blip r:embed="rId3"/>
          <a:stretch>
            <a:fillRect/>
          </a:stretch>
        </p:blipFill>
        <p:spPr>
          <a:xfrm>
            <a:off x="822960" y="1097280"/>
            <a:ext cx="1828800" cy="1828800"/>
          </a:xfrm>
          <a:prstGeom prst="rect">
            <a:avLst/>
          </a:prstGeom>
        </p:spPr>
      </p:pic>
      <p:sp>
        <p:nvSpPr>
          <p:cNvPr id="6" name="Oval 5"/>
          <p:cNvSpPr/>
          <p:nvPr/>
        </p:nvSpPr>
        <p:spPr>
          <a:xfrm>
            <a:off x="804672" y="1078992"/>
            <a:ext cx="1874519" cy="1874519"/>
          </a:xfrm>
          <a:prstGeom prst="ellipse">
            <a:avLst/>
          </a:prstGeom>
          <a:noFill/>
          <a:ln w="508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097280"/>
            <a:ext cx="5852160" cy="3657600"/>
          </a:xfrm>
          <a:prstGeom prst="rect">
            <a:avLst/>
          </a:prstGeom>
          <a:noFill/>
        </p:spPr>
        <p:txBody>
          <a:bodyPr wrap="none">
            <a:spAutoFit/>
          </a:bodyPr>
          <a:lstStyle/>
          <a:p>
            <a:r>
              <a:rPr sz="1600" b="1">
                <a:solidFill>
                  <a:srgbClr val="1769DB"/>
                </a:solidFill>
                <a:latin typeface="Aptos"/>
              </a:rPr>
              <a:t>Bonjour, je suis</a:t>
            </a:r>
          </a:p>
          <a:p>
            <a:r>
              <a:rPr sz="2800" b="1">
                <a:solidFill>
                  <a:srgbClr val="101D38"/>
                </a:solidFill>
                <a:latin typeface="Aptos"/>
              </a:rPr>
              <a:t>Mehdi Lrhoula</a:t>
            </a:r>
          </a:p>
          <a:p>
            <a:r>
              <a:rPr sz="1600">
                <a:solidFill>
                  <a:srgbClr val="101D38"/>
                </a:solidFill>
                <a:latin typeface="Aptos"/>
              </a:rPr>
              <a:t>Étudiant à Epitech • Informatique, Data &amp; Intelligence Artificielle</a:t>
            </a:r>
          </a:p>
          <a:p>
            <a:pPr>
              <a:spcBef>
                <a:spcPts val="1200"/>
              </a:spcBef>
            </a:pPr>
            <a:r>
              <a:rPr sz="1500">
                <a:solidFill>
                  <a:srgbClr val="52627A"/>
                </a:solidFill>
                <a:latin typeface="Aptos"/>
              </a:rPr>
              <a:t>En reconversion professionnelle vers l’informatique, je présente à travers ce portfolio mes projets, mes compétences, mes expériences et ma progression.</a:t>
            </a:r>
          </a:p>
        </p:txBody>
      </p:sp>
      <p:sp>
        <p:nvSpPr>
          <p:cNvPr id="8" name="Rounded Rectangle 7">
            <a:hlinkClick r:id="rId5"/>
          </p:cNvPr>
          <p:cNvSpPr/>
          <p:nvPr/>
        </p:nvSpPr>
        <p:spPr>
          <a:xfrm>
            <a:off x="3063240" y="4114800"/>
            <a:ext cx="2057400" cy="502920"/>
          </a:xfrm>
          <a:prstGeom prst="roundRect">
            <a:avLst/>
          </a:prstGeom>
          <a:solidFill>
            <a:srgbClr val="101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Découvrir mes projets</a:t>
            </a:r>
          </a:p>
        </p:txBody>
      </p:sp>
      <p:sp>
        <p:nvSpPr>
          <p:cNvPr id="9" name="Rounded Rectangle 8">
            <a:hlinkClick r:id="rId6"/>
          </p:cNvPr>
          <p:cNvSpPr/>
          <p:nvPr/>
        </p:nvSpPr>
        <p:spPr>
          <a:xfrm>
            <a:off x="5212080" y="4114800"/>
            <a:ext cx="1097280" cy="502920"/>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GitHub</a:t>
            </a:r>
          </a:p>
        </p:txBody>
      </p:sp>
      <p:sp>
        <p:nvSpPr>
          <p:cNvPr id="10" name="Rounded Rectangle 9">
            <a:hlinkClick r:id="rId7"/>
          </p:cNvPr>
          <p:cNvSpPr/>
          <p:nvPr/>
        </p:nvSpPr>
        <p:spPr>
          <a:xfrm>
            <a:off x="6400800" y="4114800"/>
            <a:ext cx="1325880" cy="502920"/>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LinkedIn</a:t>
            </a:r>
          </a:p>
        </p:txBody>
      </p:sp>
      <p:sp>
        <p:nvSpPr>
          <p:cNvPr id="11" name="Rounded Rectangle 10">
            <a:hlinkClick r:id="rId8"/>
          </p:cNvPr>
          <p:cNvSpPr/>
          <p:nvPr/>
        </p:nvSpPr>
        <p:spPr>
          <a:xfrm>
            <a:off x="7863840" y="4114800"/>
            <a:ext cx="1737360" cy="502920"/>
          </a:xfrm>
          <a:prstGeom prst="roundRect">
            <a:avLst/>
          </a:prstGeom>
          <a:solidFill>
            <a:srgbClr val="101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Télécharger mon CV</a:t>
            </a:r>
          </a:p>
        </p:txBody>
      </p:sp>
      <p:sp>
        <p:nvSpPr>
          <p:cNvPr id="12" name="Rounded Rectangle 11"/>
          <p:cNvSpPr/>
          <p:nvPr/>
        </p:nvSpPr>
        <p:spPr>
          <a:xfrm>
            <a:off x="731520" y="4983480"/>
            <a:ext cx="10789920" cy="100584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093208"/>
            <a:ext cx="10460736" cy="274320"/>
          </a:xfrm>
          <a:prstGeom prst="rect">
            <a:avLst/>
          </a:prstGeom>
          <a:noFill/>
        </p:spPr>
        <p:txBody>
          <a:bodyPr wrap="none">
            <a:spAutoFit/>
          </a:bodyPr>
          <a:lstStyle/>
          <a:p>
            <a:r>
              <a:rPr b="1" sz="1500">
                <a:solidFill>
                  <a:srgbClr val="1769DB"/>
                </a:solidFill>
                <a:latin typeface="Aptos"/>
              </a:rPr>
              <a:t>Objectif de la soutenance</a:t>
            </a:r>
          </a:p>
        </p:txBody>
      </p:sp>
      <p:sp>
        <p:nvSpPr>
          <p:cNvPr id="14" name="TextBox 13"/>
          <p:cNvSpPr txBox="1"/>
          <p:nvPr/>
        </p:nvSpPr>
        <p:spPr>
          <a:xfrm>
            <a:off x="960120" y="5349240"/>
            <a:ext cx="10241280" cy="457200"/>
          </a:xfrm>
          <a:prstGeom prst="rect">
            <a:avLst/>
          </a:prstGeom>
          <a:noFill/>
        </p:spPr>
        <p:txBody>
          <a:bodyPr wrap="none">
            <a:spAutoFit/>
          </a:bodyPr>
          <a:lstStyle/>
          <a:p>
            <a:r>
              <a:rPr sz="1400">
                <a:solidFill>
                  <a:srgbClr val="15233C"/>
                </a:solidFill>
                <a:latin typeface="Aptos"/>
              </a:rPr>
              <a:t>Montrer comment j’ai conçu un portfolio cohérent, responsive, bilingue et orienté vers mon projet professionnel dans l’informatique.</a:t>
            </a:r>
          </a:p>
        </p:txBody>
      </p:sp>
      <p:sp>
        <p:nvSpPr>
          <p:cNvPr id="15" name="TextBox 1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1/15</a:t>
            </a:r>
          </a:p>
        </p:txBody>
      </p:sp>
      <p:sp>
        <p:nvSpPr>
          <p:cNvPr id="16" name="Rounded Rectangle 15">
            <a:hlinkClick r:id="rId4"/>
          </p:cNvPr>
          <p:cNvSpPr/>
          <p:nvPr/>
        </p:nvSpPr>
        <p:spPr>
          <a:xfrm>
            <a:off x="594360" y="6172200"/>
            <a:ext cx="2088489"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OUVRIR LE SITE</a:t>
            </a:r>
          </a:p>
        </p:txBody>
      </p:sp>
      <p:sp>
        <p:nvSpPr>
          <p:cNvPr id="17" name="Rounded Rectangle 16">
            <a:hlinkClick r:id="rId5"/>
          </p:cNvPr>
          <p:cNvSpPr/>
          <p:nvPr/>
        </p:nvSpPr>
        <p:spPr>
          <a:xfrm>
            <a:off x="2847441" y="6172200"/>
            <a:ext cx="2236622"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VOIR LES PROJETS</a:t>
            </a:r>
          </a:p>
        </p:txBody>
      </p:sp>
      <p:sp>
        <p:nvSpPr>
          <p:cNvPr id="18" name="TextBox 17"/>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Plan &amp; fil conducteur</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2/15</a:t>
            </a:r>
          </a:p>
        </p:txBody>
      </p:sp>
      <p:sp>
        <p:nvSpPr>
          <p:cNvPr id="6" name="Rounded Rectangle 5"/>
          <p:cNvSpPr/>
          <p:nvPr/>
        </p:nvSpPr>
        <p:spPr>
          <a:xfrm>
            <a:off x="640080" y="1188720"/>
            <a:ext cx="365760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3328416" cy="274320"/>
          </a:xfrm>
          <a:prstGeom prst="rect">
            <a:avLst/>
          </a:prstGeom>
          <a:noFill/>
        </p:spPr>
        <p:txBody>
          <a:bodyPr wrap="none">
            <a:spAutoFit/>
          </a:bodyPr>
          <a:lstStyle/>
          <a:p>
            <a:r>
              <a:rPr b="1" sz="1500">
                <a:solidFill>
                  <a:srgbClr val="1769DB"/>
                </a:solidFill>
                <a:latin typeface="Aptos"/>
              </a:rPr>
              <a:t>Logique générale</a:t>
            </a:r>
          </a:p>
        </p:txBody>
      </p:sp>
      <p:sp>
        <p:nvSpPr>
          <p:cNvPr id="8" name="TextBox 7"/>
          <p:cNvSpPr txBox="1"/>
          <p:nvPr/>
        </p:nvSpPr>
        <p:spPr>
          <a:xfrm>
            <a:off x="868680" y="1600200"/>
            <a:ext cx="3200400" cy="3657600"/>
          </a:xfrm>
          <a:prstGeom prst="rect">
            <a:avLst/>
          </a:prstGeom>
          <a:noFill/>
        </p:spPr>
        <p:txBody>
          <a:bodyPr wrap="square">
            <a:spAutoFit/>
          </a:bodyPr>
          <a:lstStyle/>
          <a:p>
            <a:pPr>
              <a:spcAft>
                <a:spcPts val="400"/>
              </a:spcAft>
            </a:pPr>
            <a:r>
              <a:rPr sz="1500">
                <a:solidFill>
                  <a:srgbClr val="15233C"/>
                </a:solidFill>
                <a:latin typeface="Aptos"/>
              </a:rPr>
              <a:t>Contexte personnel</a:t>
            </a:r>
          </a:p>
          <a:p>
            <a:pPr>
              <a:spcAft>
                <a:spcPts val="400"/>
              </a:spcAft>
            </a:pPr>
            <a:r>
              <a:rPr sz="1500">
                <a:solidFill>
                  <a:srgbClr val="15233C"/>
                </a:solidFill>
                <a:latin typeface="Aptos"/>
              </a:rPr>
              <a:t>Structure du site</a:t>
            </a:r>
          </a:p>
          <a:p>
            <a:pPr>
              <a:spcAft>
                <a:spcPts val="400"/>
              </a:spcAft>
            </a:pPr>
            <a:r>
              <a:rPr sz="1500">
                <a:solidFill>
                  <a:srgbClr val="15233C"/>
                </a:solidFill>
                <a:latin typeface="Aptos"/>
              </a:rPr>
              <a:t>Charte graphique</a:t>
            </a:r>
          </a:p>
          <a:p>
            <a:pPr>
              <a:spcAft>
                <a:spcPts val="400"/>
              </a:spcAft>
            </a:pPr>
            <a:r>
              <a:rPr sz="1500">
                <a:solidFill>
                  <a:srgbClr val="15233C"/>
                </a:solidFill>
                <a:latin typeface="Aptos"/>
              </a:rPr>
              <a:t>Responsive &amp; mobile</a:t>
            </a:r>
          </a:p>
          <a:p>
            <a:pPr>
              <a:spcAft>
                <a:spcPts val="400"/>
              </a:spcAft>
            </a:pPr>
            <a:r>
              <a:rPr sz="1500">
                <a:solidFill>
                  <a:srgbClr val="15233C"/>
                </a:solidFill>
                <a:latin typeface="Aptos"/>
              </a:rPr>
              <a:t>Fonctionnalités</a:t>
            </a:r>
          </a:p>
          <a:p>
            <a:pPr>
              <a:spcAft>
                <a:spcPts val="400"/>
              </a:spcAft>
            </a:pPr>
            <a:r>
              <a:rPr sz="1500">
                <a:solidFill>
                  <a:srgbClr val="15233C"/>
                </a:solidFill>
                <a:latin typeface="Aptos"/>
              </a:rPr>
              <a:t>Qualité du site</a:t>
            </a:r>
          </a:p>
          <a:p>
            <a:pPr>
              <a:spcAft>
                <a:spcPts val="400"/>
              </a:spcAft>
            </a:pPr>
            <a:r>
              <a:rPr sz="1500">
                <a:solidFill>
                  <a:srgbClr val="15233C"/>
                </a:solidFill>
                <a:latin typeface="Aptos"/>
              </a:rPr>
              <a:t>Bilan</a:t>
            </a:r>
          </a:p>
        </p:txBody>
      </p:sp>
      <p:sp>
        <p:nvSpPr>
          <p:cNvPr id="9" name="Rounded Rectangle 8"/>
          <p:cNvSpPr/>
          <p:nvPr/>
        </p:nvSpPr>
        <p:spPr>
          <a:xfrm>
            <a:off x="4526280" y="1188720"/>
            <a:ext cx="694944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90872" y="1298448"/>
            <a:ext cx="6620256" cy="274320"/>
          </a:xfrm>
          <a:prstGeom prst="rect">
            <a:avLst/>
          </a:prstGeom>
          <a:noFill/>
        </p:spPr>
        <p:txBody>
          <a:bodyPr wrap="none">
            <a:spAutoFit/>
          </a:bodyPr>
          <a:lstStyle/>
          <a:p>
            <a:r>
              <a:rPr b="1" sz="1500">
                <a:solidFill>
                  <a:srgbClr val="FFFFFF"/>
                </a:solidFill>
                <a:latin typeface="Aptos"/>
              </a:rPr>
              <a:t>Fil conducteur du portfolio</a:t>
            </a:r>
          </a:p>
        </p:txBody>
      </p:sp>
      <p:sp>
        <p:nvSpPr>
          <p:cNvPr id="11" name="TextBox 10"/>
          <p:cNvSpPr txBox="1"/>
          <p:nvPr/>
        </p:nvSpPr>
        <p:spPr>
          <a:xfrm>
            <a:off x="4800600" y="1645920"/>
            <a:ext cx="6400800" cy="3474720"/>
          </a:xfrm>
          <a:prstGeom prst="rect">
            <a:avLst/>
          </a:prstGeom>
          <a:noFill/>
        </p:spPr>
        <p:txBody>
          <a:bodyPr wrap="square">
            <a:spAutoFit/>
          </a:bodyPr>
          <a:lstStyle/>
          <a:p>
            <a:pPr>
              <a:spcAft>
                <a:spcPts val="400"/>
              </a:spcAft>
            </a:pPr>
            <a:r>
              <a:rPr sz="1600">
                <a:solidFill>
                  <a:srgbClr val="FFFFFF"/>
                </a:solidFill>
                <a:latin typeface="Aptos"/>
              </a:rPr>
              <a:t>Reconversion vers l’informatique</a:t>
            </a:r>
          </a:p>
          <a:p>
            <a:pPr>
              <a:spcAft>
                <a:spcPts val="400"/>
              </a:spcAft>
            </a:pPr>
            <a:r>
              <a:rPr sz="1600">
                <a:solidFill>
                  <a:srgbClr val="FFFFFF"/>
                </a:solidFill>
                <a:latin typeface="Aptos"/>
              </a:rPr>
              <a:t>Valorisation des projets Epitech</a:t>
            </a:r>
          </a:p>
          <a:p>
            <a:pPr>
              <a:spcAft>
                <a:spcPts val="400"/>
              </a:spcAft>
            </a:pPr>
            <a:r>
              <a:rPr sz="1600">
                <a:solidFill>
                  <a:srgbClr val="FFFFFF"/>
                </a:solidFill>
                <a:latin typeface="Aptos"/>
              </a:rPr>
              <a:t>Mise en avant de mes compétences techniques</a:t>
            </a:r>
          </a:p>
          <a:p>
            <a:pPr>
              <a:spcAft>
                <a:spcPts val="400"/>
              </a:spcAft>
            </a:pPr>
            <a:r>
              <a:rPr sz="1600">
                <a:solidFill>
                  <a:srgbClr val="FFFFFF"/>
                </a:solidFill>
                <a:latin typeface="Aptos"/>
              </a:rPr>
              <a:t>Lien avec mon expérience business et projet</a:t>
            </a:r>
          </a:p>
          <a:p>
            <a:pPr>
              <a:spcAft>
                <a:spcPts val="400"/>
              </a:spcAft>
            </a:pPr>
            <a:r>
              <a:rPr sz="1600">
                <a:solidFill>
                  <a:srgbClr val="FFFFFF"/>
                </a:solidFill>
                <a:latin typeface="Aptos"/>
              </a:rPr>
              <a:t>Objectif : évoluer à terme vers un poste de chef de projet / produit</a:t>
            </a:r>
          </a:p>
        </p:txBody>
      </p:sp>
      <p:sp>
        <p:nvSpPr>
          <p:cNvPr id="12" name="Rounded Rectangle 11"/>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3" name="Rounded Rectangle 12">
            <a:hlinkClick r:id="rId3"/>
          </p:cNvPr>
          <p:cNvSpPr/>
          <p:nvPr/>
        </p:nvSpPr>
        <p:spPr>
          <a:xfrm>
            <a:off x="594360" y="6172200"/>
            <a:ext cx="1570024"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ACCUEIL</a:t>
            </a:r>
          </a:p>
        </p:txBody>
      </p:sp>
      <p:sp>
        <p:nvSpPr>
          <p:cNvPr id="14" name="TextBox 13"/>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Présentation générale du portfolio</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3/15</a:t>
            </a:r>
          </a:p>
        </p:txBody>
      </p:sp>
      <p:sp>
        <p:nvSpPr>
          <p:cNvPr id="6" name="Rounded Rectangle 5"/>
          <p:cNvSpPr/>
          <p:nvPr/>
        </p:nvSpPr>
        <p:spPr>
          <a:xfrm>
            <a:off x="640080" y="1188720"/>
            <a:ext cx="5577840" cy="438912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5248656" cy="274320"/>
          </a:xfrm>
          <a:prstGeom prst="rect">
            <a:avLst/>
          </a:prstGeom>
          <a:noFill/>
        </p:spPr>
        <p:txBody>
          <a:bodyPr wrap="none">
            <a:spAutoFit/>
          </a:bodyPr>
          <a:lstStyle/>
          <a:p>
            <a:r>
              <a:rPr b="1" sz="1500">
                <a:solidFill>
                  <a:srgbClr val="1769DB"/>
                </a:solidFill>
                <a:latin typeface="Aptos"/>
              </a:rPr>
              <a:t>Architecture du site</a:t>
            </a:r>
          </a:p>
        </p:txBody>
      </p:sp>
      <p:sp>
        <p:nvSpPr>
          <p:cNvPr id="8" name="TextBox 7"/>
          <p:cNvSpPr txBox="1"/>
          <p:nvPr/>
        </p:nvSpPr>
        <p:spPr>
          <a:xfrm>
            <a:off x="914400" y="1600200"/>
            <a:ext cx="4937760" cy="3474720"/>
          </a:xfrm>
          <a:prstGeom prst="rect">
            <a:avLst/>
          </a:prstGeom>
          <a:noFill/>
        </p:spPr>
        <p:txBody>
          <a:bodyPr wrap="square">
            <a:spAutoFit/>
          </a:bodyPr>
          <a:lstStyle/>
          <a:p>
            <a:pPr>
              <a:spcAft>
                <a:spcPts val="400"/>
              </a:spcAft>
            </a:pPr>
            <a:r>
              <a:rPr sz="1500">
                <a:solidFill>
                  <a:srgbClr val="15233C"/>
                </a:solidFill>
                <a:latin typeface="Aptos"/>
              </a:rPr>
              <a:t>Page d’accueil : présentation, GitHub, LinkedIn, CV</a:t>
            </a:r>
          </a:p>
          <a:p>
            <a:pPr>
              <a:spcAft>
                <a:spcPts val="400"/>
              </a:spcAft>
            </a:pPr>
            <a:r>
              <a:rPr sz="1500">
                <a:solidFill>
                  <a:srgbClr val="15233C"/>
                </a:solidFill>
                <a:latin typeface="Aptos"/>
              </a:rPr>
              <a:t>Page Projets : réalisations, technologies, médias</a:t>
            </a:r>
          </a:p>
          <a:p>
            <a:pPr>
              <a:spcAft>
                <a:spcPts val="400"/>
              </a:spcAft>
            </a:pPr>
            <a:r>
              <a:rPr sz="1500">
                <a:solidFill>
                  <a:srgbClr val="15233C"/>
                </a:solidFill>
                <a:latin typeface="Aptos"/>
              </a:rPr>
              <a:t>Page Compétences : développement, outils, gestion de projet</a:t>
            </a:r>
          </a:p>
          <a:p>
            <a:pPr>
              <a:spcAft>
                <a:spcPts val="400"/>
              </a:spcAft>
            </a:pPr>
            <a:r>
              <a:rPr sz="1500">
                <a:solidFill>
                  <a:srgbClr val="15233C"/>
                </a:solidFill>
                <a:latin typeface="Aptos"/>
              </a:rPr>
              <a:t>Page Expériences : parcours professionnel</a:t>
            </a:r>
          </a:p>
          <a:p>
            <a:pPr>
              <a:spcAft>
                <a:spcPts val="400"/>
              </a:spcAft>
            </a:pPr>
            <a:r>
              <a:rPr sz="1500">
                <a:solidFill>
                  <a:srgbClr val="15233C"/>
                </a:solidFill>
                <a:latin typeface="Aptos"/>
              </a:rPr>
              <a:t>Page Contact : email direct + formulaire</a:t>
            </a:r>
          </a:p>
        </p:txBody>
      </p:sp>
      <p:sp>
        <p:nvSpPr>
          <p:cNvPr id="9" name="Rounded Rectangle 8"/>
          <p:cNvSpPr/>
          <p:nvPr/>
        </p:nvSpPr>
        <p:spPr>
          <a:xfrm>
            <a:off x="6446520" y="1188720"/>
            <a:ext cx="5074920" cy="438912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1298448"/>
            <a:ext cx="4745736" cy="274320"/>
          </a:xfrm>
          <a:prstGeom prst="rect">
            <a:avLst/>
          </a:prstGeom>
          <a:noFill/>
        </p:spPr>
        <p:txBody>
          <a:bodyPr wrap="none">
            <a:spAutoFit/>
          </a:bodyPr>
          <a:lstStyle/>
          <a:p>
            <a:r>
              <a:rPr b="1" sz="1500">
                <a:solidFill>
                  <a:srgbClr val="FFFFFF"/>
                </a:solidFill>
                <a:latin typeface="Aptos"/>
              </a:rPr>
              <a:t>Éléments clés</a:t>
            </a:r>
          </a:p>
        </p:txBody>
      </p:sp>
      <p:sp>
        <p:nvSpPr>
          <p:cNvPr id="11" name="TextBox 10"/>
          <p:cNvSpPr txBox="1"/>
          <p:nvPr/>
        </p:nvSpPr>
        <p:spPr>
          <a:xfrm>
            <a:off x="6720840" y="1600200"/>
            <a:ext cx="4526280" cy="3474720"/>
          </a:xfrm>
          <a:prstGeom prst="rect">
            <a:avLst/>
          </a:prstGeom>
          <a:noFill/>
        </p:spPr>
        <p:txBody>
          <a:bodyPr wrap="square">
            <a:spAutoFit/>
          </a:bodyPr>
          <a:lstStyle/>
          <a:p>
            <a:pPr>
              <a:spcAft>
                <a:spcPts val="400"/>
              </a:spcAft>
            </a:pPr>
            <a:r>
              <a:rPr sz="1500">
                <a:solidFill>
                  <a:srgbClr val="FFFFFF"/>
                </a:solidFill>
                <a:latin typeface="Aptos"/>
              </a:rPr>
              <a:t>Navigation claire par onglets</a:t>
            </a:r>
          </a:p>
          <a:p>
            <a:pPr>
              <a:spcAft>
                <a:spcPts val="400"/>
              </a:spcAft>
            </a:pPr>
            <a:r>
              <a:rPr sz="1500">
                <a:solidFill>
                  <a:srgbClr val="FFFFFF"/>
                </a:solidFill>
                <a:latin typeface="Aptos"/>
              </a:rPr>
              <a:t>Liens cliquables externes</a:t>
            </a:r>
          </a:p>
          <a:p>
            <a:pPr>
              <a:spcAft>
                <a:spcPts val="400"/>
              </a:spcAft>
            </a:pPr>
            <a:r>
              <a:rPr sz="1500">
                <a:solidFill>
                  <a:srgbClr val="FFFFFF"/>
                </a:solidFill>
                <a:latin typeface="Aptos"/>
              </a:rPr>
              <a:t>Projet hébergé sur GitHub Pages</a:t>
            </a:r>
          </a:p>
          <a:p>
            <a:pPr>
              <a:spcAft>
                <a:spcPts val="400"/>
              </a:spcAft>
            </a:pPr>
            <a:r>
              <a:rPr sz="1500">
                <a:solidFill>
                  <a:srgbClr val="FFFFFF"/>
                </a:solidFill>
                <a:latin typeface="Aptos"/>
              </a:rPr>
              <a:t>Portfolio pensé comme une vitrine professionnelle</a:t>
            </a:r>
          </a:p>
          <a:p>
            <a:pPr>
              <a:spcAft>
                <a:spcPts val="400"/>
              </a:spcAft>
            </a:pPr>
            <a:r>
              <a:rPr sz="1500">
                <a:solidFill>
                  <a:srgbClr val="FFFFFF"/>
                </a:solidFill>
                <a:latin typeface="Aptos"/>
              </a:rPr>
              <a:t>Boutons 'Voir le code' redirigés vers mes dépôts publics</a:t>
            </a:r>
          </a:p>
        </p:txBody>
      </p:sp>
      <p:sp>
        <p:nvSpPr>
          <p:cNvPr id="12" name="Rounded Rectangle 11"/>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3" name="Rounded Rectangle 12">
            <a:hlinkClick r:id="rId3"/>
          </p:cNvPr>
          <p:cNvSpPr/>
          <p:nvPr/>
        </p:nvSpPr>
        <p:spPr>
          <a:xfrm>
            <a:off x="594360" y="6172200"/>
            <a:ext cx="2384755"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VOIR LES 5 ONGLETS</a:t>
            </a:r>
          </a:p>
        </p:txBody>
      </p:sp>
      <p:sp>
        <p:nvSpPr>
          <p:cNvPr id="14" name="TextBox 13"/>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Identité visuelle &amp; choix CSS</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4/15</a:t>
            </a:r>
          </a:p>
        </p:txBody>
      </p:sp>
      <p:sp>
        <p:nvSpPr>
          <p:cNvPr id="6" name="Rounded Rectangle 5"/>
          <p:cNvSpPr/>
          <p:nvPr/>
        </p:nvSpPr>
        <p:spPr>
          <a:xfrm>
            <a:off x="640080" y="1188720"/>
            <a:ext cx="3840480" cy="438912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3511296" cy="274320"/>
          </a:xfrm>
          <a:prstGeom prst="rect">
            <a:avLst/>
          </a:prstGeom>
          <a:noFill/>
        </p:spPr>
        <p:txBody>
          <a:bodyPr wrap="none">
            <a:spAutoFit/>
          </a:bodyPr>
          <a:lstStyle/>
          <a:p>
            <a:r>
              <a:rPr b="1" sz="1500">
                <a:solidFill>
                  <a:srgbClr val="1769DB"/>
                </a:solidFill>
                <a:latin typeface="Aptos"/>
              </a:rPr>
              <a:t>Code couleur</a:t>
            </a:r>
          </a:p>
        </p:txBody>
      </p:sp>
      <p:sp>
        <p:nvSpPr>
          <p:cNvPr id="8" name="Rounded Rectangle 7"/>
          <p:cNvSpPr/>
          <p:nvPr/>
        </p:nvSpPr>
        <p:spPr>
          <a:xfrm>
            <a:off x="914400" y="1645920"/>
            <a:ext cx="502920" cy="365760"/>
          </a:xfrm>
          <a:prstGeom prst="roundRect">
            <a:avLst/>
          </a:prstGeom>
          <a:solidFill>
            <a:srgbClr val="101D38"/>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673352"/>
            <a:ext cx="2286000" cy="228600"/>
          </a:xfrm>
          <a:prstGeom prst="rect">
            <a:avLst/>
          </a:prstGeom>
          <a:noFill/>
        </p:spPr>
        <p:txBody>
          <a:bodyPr wrap="none">
            <a:spAutoFit/>
          </a:bodyPr>
          <a:lstStyle/>
          <a:p>
            <a:r>
              <a:rPr sz="1400">
                <a:solidFill>
                  <a:srgbClr val="15233C"/>
                </a:solidFill>
                <a:latin typeface="Aptos"/>
              </a:rPr>
              <a:t>Bleu nuit</a:t>
            </a:r>
          </a:p>
        </p:txBody>
      </p:sp>
      <p:sp>
        <p:nvSpPr>
          <p:cNvPr id="10" name="Rounded Rectangle 9"/>
          <p:cNvSpPr/>
          <p:nvPr/>
        </p:nvSpPr>
        <p:spPr>
          <a:xfrm>
            <a:off x="914400" y="2423160"/>
            <a:ext cx="502920" cy="365760"/>
          </a:xfrm>
          <a:prstGeom prst="roundRect">
            <a:avLst/>
          </a:prstGeom>
          <a:solidFill>
            <a:srgbClr val="1769D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2450591"/>
            <a:ext cx="2286000" cy="228600"/>
          </a:xfrm>
          <a:prstGeom prst="rect">
            <a:avLst/>
          </a:prstGeom>
          <a:noFill/>
        </p:spPr>
        <p:txBody>
          <a:bodyPr wrap="none">
            <a:spAutoFit/>
          </a:bodyPr>
          <a:lstStyle/>
          <a:p>
            <a:r>
              <a:rPr sz="1400">
                <a:solidFill>
                  <a:srgbClr val="15233C"/>
                </a:solidFill>
                <a:latin typeface="Aptos"/>
              </a:rPr>
              <a:t>Bleu accent</a:t>
            </a:r>
          </a:p>
        </p:txBody>
      </p:sp>
      <p:sp>
        <p:nvSpPr>
          <p:cNvPr id="12" name="Rounded Rectangle 11"/>
          <p:cNvSpPr/>
          <p:nvPr/>
        </p:nvSpPr>
        <p:spPr>
          <a:xfrm>
            <a:off x="914400" y="3200400"/>
            <a:ext cx="502920" cy="36576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3227832"/>
            <a:ext cx="2286000" cy="228600"/>
          </a:xfrm>
          <a:prstGeom prst="rect">
            <a:avLst/>
          </a:prstGeom>
          <a:noFill/>
        </p:spPr>
        <p:txBody>
          <a:bodyPr wrap="none">
            <a:spAutoFit/>
          </a:bodyPr>
          <a:lstStyle/>
          <a:p>
            <a:r>
              <a:rPr sz="1400">
                <a:solidFill>
                  <a:srgbClr val="15233C"/>
                </a:solidFill>
                <a:latin typeface="Aptos"/>
              </a:rPr>
              <a:t>Fond clair</a:t>
            </a:r>
          </a:p>
        </p:txBody>
      </p:sp>
      <p:sp>
        <p:nvSpPr>
          <p:cNvPr id="14" name="Rounded Rectangle 13"/>
          <p:cNvSpPr/>
          <p:nvPr/>
        </p:nvSpPr>
        <p:spPr>
          <a:xfrm>
            <a:off x="914400" y="3977639"/>
            <a:ext cx="502920" cy="365760"/>
          </a:xfrm>
          <a:prstGeom prst="roundRect">
            <a:avLst/>
          </a:prstGeom>
          <a:solidFill>
            <a:srgbClr val="15233C"/>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4005072"/>
            <a:ext cx="2286000" cy="228600"/>
          </a:xfrm>
          <a:prstGeom prst="rect">
            <a:avLst/>
          </a:prstGeom>
          <a:noFill/>
        </p:spPr>
        <p:txBody>
          <a:bodyPr wrap="none">
            <a:spAutoFit/>
          </a:bodyPr>
          <a:lstStyle/>
          <a:p>
            <a:r>
              <a:rPr sz="1400">
                <a:solidFill>
                  <a:srgbClr val="15233C"/>
                </a:solidFill>
                <a:latin typeface="Aptos"/>
              </a:rPr>
              <a:t>Texte</a:t>
            </a:r>
          </a:p>
        </p:txBody>
      </p:sp>
      <p:sp>
        <p:nvSpPr>
          <p:cNvPr id="16" name="Rounded Rectangle 15"/>
          <p:cNvSpPr/>
          <p:nvPr/>
        </p:nvSpPr>
        <p:spPr>
          <a:xfrm>
            <a:off x="4709160" y="1188720"/>
            <a:ext cx="6812280" cy="438912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3752" y="1298448"/>
            <a:ext cx="6483096" cy="274320"/>
          </a:xfrm>
          <a:prstGeom prst="rect">
            <a:avLst/>
          </a:prstGeom>
          <a:noFill/>
        </p:spPr>
        <p:txBody>
          <a:bodyPr wrap="none">
            <a:spAutoFit/>
          </a:bodyPr>
          <a:lstStyle/>
          <a:p>
            <a:r>
              <a:rPr b="1" sz="1500">
                <a:solidFill>
                  <a:srgbClr val="FFFFFF"/>
                </a:solidFill>
                <a:latin typeface="Aptos"/>
              </a:rPr>
              <a:t>Choix CSS &amp; structure de design</a:t>
            </a:r>
          </a:p>
        </p:txBody>
      </p:sp>
      <p:sp>
        <p:nvSpPr>
          <p:cNvPr id="18" name="TextBox 17"/>
          <p:cNvSpPr txBox="1"/>
          <p:nvPr/>
        </p:nvSpPr>
        <p:spPr>
          <a:xfrm>
            <a:off x="4983480" y="1600200"/>
            <a:ext cx="6217920" cy="3474720"/>
          </a:xfrm>
          <a:prstGeom prst="rect">
            <a:avLst/>
          </a:prstGeom>
          <a:noFill/>
        </p:spPr>
        <p:txBody>
          <a:bodyPr wrap="square">
            <a:spAutoFit/>
          </a:bodyPr>
          <a:lstStyle/>
          <a:p>
            <a:pPr>
              <a:spcAft>
                <a:spcPts val="400"/>
              </a:spcAft>
            </a:pPr>
            <a:r>
              <a:rPr sz="1500">
                <a:solidFill>
                  <a:srgbClr val="FFFFFF"/>
                </a:solidFill>
                <a:latin typeface="Aptos"/>
              </a:rPr>
              <a:t>Même police sans-serif sur tout le site</a:t>
            </a:r>
          </a:p>
          <a:p>
            <a:pPr>
              <a:spcAft>
                <a:spcPts val="400"/>
              </a:spcAft>
            </a:pPr>
            <a:r>
              <a:rPr sz="1500">
                <a:solidFill>
                  <a:srgbClr val="FFFFFF"/>
                </a:solidFill>
                <a:latin typeface="Aptos"/>
              </a:rPr>
              <a:t>Texte blanc sur fond bleu, texte bleu sur fond blanc</a:t>
            </a:r>
          </a:p>
          <a:p>
            <a:pPr>
              <a:spcAft>
                <a:spcPts val="400"/>
              </a:spcAft>
            </a:pPr>
            <a:r>
              <a:rPr sz="1500">
                <a:solidFill>
                  <a:srgbClr val="FFFFFF"/>
                </a:solidFill>
                <a:latin typeface="Aptos"/>
              </a:rPr>
              <a:t>Cartes encadrées inspirées de competences.html</a:t>
            </a:r>
          </a:p>
          <a:p>
            <a:pPr>
              <a:spcAft>
                <a:spcPts val="400"/>
              </a:spcAft>
            </a:pPr>
            <a:r>
              <a:rPr sz="1500">
                <a:solidFill>
                  <a:srgbClr val="FFFFFF"/>
                </a:solidFill>
                <a:latin typeface="Aptos"/>
              </a:rPr>
              <a:t>Boutons arrondis et homogènes</a:t>
            </a:r>
          </a:p>
          <a:p>
            <a:pPr>
              <a:spcAft>
                <a:spcPts val="400"/>
              </a:spcAft>
            </a:pPr>
            <a:r>
              <a:rPr sz="1500">
                <a:solidFill>
                  <a:srgbClr val="FFFFFF"/>
                </a:solidFill>
                <a:latin typeface="Aptos"/>
              </a:rPr>
              <a:t>Espacements, ombres légères et bordures cohérentes</a:t>
            </a:r>
          </a:p>
        </p:txBody>
      </p:sp>
      <p:sp>
        <p:nvSpPr>
          <p:cNvPr id="19" name="Rounded Rectangle 18"/>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20" name="Rounded Rectangle 19">
            <a:hlinkClick r:id="rId3"/>
          </p:cNvPr>
          <p:cNvSpPr/>
          <p:nvPr/>
        </p:nvSpPr>
        <p:spPr>
          <a:xfrm>
            <a:off x="594360" y="6172200"/>
            <a:ext cx="2458821"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VOIR LES CARTES CSS</a:t>
            </a:r>
          </a:p>
        </p:txBody>
      </p:sp>
      <p:sp>
        <p:nvSpPr>
          <p:cNvPr id="21" name="TextBox 20"/>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Responsive design &amp; expérience mobile</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5/15</a:t>
            </a:r>
          </a:p>
        </p:txBody>
      </p:sp>
      <p:sp>
        <p:nvSpPr>
          <p:cNvPr id="6" name="Rounded Rectangle 5"/>
          <p:cNvSpPr/>
          <p:nvPr/>
        </p:nvSpPr>
        <p:spPr>
          <a:xfrm>
            <a:off x="640080" y="1188720"/>
            <a:ext cx="548640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5157216" cy="274320"/>
          </a:xfrm>
          <a:prstGeom prst="rect">
            <a:avLst/>
          </a:prstGeom>
          <a:noFill/>
        </p:spPr>
        <p:txBody>
          <a:bodyPr wrap="none">
            <a:spAutoFit/>
          </a:bodyPr>
          <a:lstStyle/>
          <a:p>
            <a:r>
              <a:rPr b="1" sz="1500">
                <a:solidFill>
                  <a:srgbClr val="1769DB"/>
                </a:solidFill>
                <a:latin typeface="Aptos"/>
              </a:rPr>
              <a:t>Responsive</a:t>
            </a:r>
          </a:p>
        </p:txBody>
      </p:sp>
      <p:sp>
        <p:nvSpPr>
          <p:cNvPr id="8" name="TextBox 7"/>
          <p:cNvSpPr txBox="1"/>
          <p:nvPr/>
        </p:nvSpPr>
        <p:spPr>
          <a:xfrm>
            <a:off x="914400" y="1645920"/>
            <a:ext cx="4846320" cy="3474720"/>
          </a:xfrm>
          <a:prstGeom prst="rect">
            <a:avLst/>
          </a:prstGeom>
          <a:noFill/>
        </p:spPr>
        <p:txBody>
          <a:bodyPr wrap="square">
            <a:spAutoFit/>
          </a:bodyPr>
          <a:lstStyle/>
          <a:p>
            <a:pPr>
              <a:spcAft>
                <a:spcPts val="400"/>
              </a:spcAft>
            </a:pPr>
            <a:r>
              <a:rPr sz="1500">
                <a:solidFill>
                  <a:srgbClr val="15233C"/>
                </a:solidFill>
                <a:latin typeface="Aptos"/>
              </a:rPr>
              <a:t>Media queries pour adapter la mise en page</a:t>
            </a:r>
          </a:p>
          <a:p>
            <a:pPr>
              <a:spcAft>
                <a:spcPts val="400"/>
              </a:spcAft>
            </a:pPr>
            <a:r>
              <a:rPr sz="1500">
                <a:solidFill>
                  <a:srgbClr val="15233C"/>
                </a:solidFill>
                <a:latin typeface="Aptos"/>
              </a:rPr>
              <a:t>Grilles de compétences qui passent de 3 colonnes à 1 colonne</a:t>
            </a:r>
          </a:p>
          <a:p>
            <a:pPr>
              <a:spcAft>
                <a:spcPts val="400"/>
              </a:spcAft>
            </a:pPr>
            <a:r>
              <a:rPr sz="1500">
                <a:solidFill>
                  <a:srgbClr val="15233C"/>
                </a:solidFill>
                <a:latin typeface="Aptos"/>
              </a:rPr>
              <a:t>Photo et contenu réorganisés en mobile</a:t>
            </a:r>
          </a:p>
          <a:p>
            <a:pPr>
              <a:spcAft>
                <a:spcPts val="400"/>
              </a:spcAft>
            </a:pPr>
            <a:r>
              <a:rPr sz="1500">
                <a:solidFill>
                  <a:srgbClr val="15233C"/>
                </a:solidFill>
                <a:latin typeface="Aptos"/>
              </a:rPr>
              <a:t>Boutons et cartes redimensionnés</a:t>
            </a:r>
          </a:p>
        </p:txBody>
      </p:sp>
      <p:sp>
        <p:nvSpPr>
          <p:cNvPr id="9" name="Rounded Rectangle 8"/>
          <p:cNvSpPr/>
          <p:nvPr/>
        </p:nvSpPr>
        <p:spPr>
          <a:xfrm>
            <a:off x="6400800" y="1188720"/>
            <a:ext cx="512064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65392" y="1298448"/>
            <a:ext cx="4791456" cy="274320"/>
          </a:xfrm>
          <a:prstGeom prst="rect">
            <a:avLst/>
          </a:prstGeom>
          <a:noFill/>
        </p:spPr>
        <p:txBody>
          <a:bodyPr wrap="none">
            <a:spAutoFit/>
          </a:bodyPr>
          <a:lstStyle/>
          <a:p>
            <a:r>
              <a:rPr b="1" sz="1500">
                <a:solidFill>
                  <a:srgbClr val="FFFFFF"/>
                </a:solidFill>
                <a:latin typeface="Aptos"/>
              </a:rPr>
              <a:t>Menu mobile</a:t>
            </a:r>
          </a:p>
        </p:txBody>
      </p:sp>
      <p:sp>
        <p:nvSpPr>
          <p:cNvPr id="11" name="TextBox 10"/>
          <p:cNvSpPr txBox="1"/>
          <p:nvPr/>
        </p:nvSpPr>
        <p:spPr>
          <a:xfrm>
            <a:off x="6675120" y="1645920"/>
            <a:ext cx="4572000" cy="3291840"/>
          </a:xfrm>
          <a:prstGeom prst="rect">
            <a:avLst/>
          </a:prstGeom>
          <a:noFill/>
        </p:spPr>
        <p:txBody>
          <a:bodyPr wrap="square">
            <a:spAutoFit/>
          </a:bodyPr>
          <a:lstStyle/>
          <a:p>
            <a:pPr>
              <a:spcAft>
                <a:spcPts val="400"/>
              </a:spcAft>
            </a:pPr>
            <a:r>
              <a:rPr sz="1500">
                <a:solidFill>
                  <a:srgbClr val="FFFFFF"/>
                </a:solidFill>
                <a:latin typeface="Aptos"/>
              </a:rPr>
              <a:t>Ajout d’un menu hamburger</a:t>
            </a:r>
          </a:p>
          <a:p>
            <a:pPr>
              <a:spcAft>
                <a:spcPts val="400"/>
              </a:spcAft>
            </a:pPr>
            <a:r>
              <a:rPr sz="1500">
                <a:solidFill>
                  <a:srgbClr val="FFFFFF"/>
                </a:solidFill>
                <a:latin typeface="Aptos"/>
              </a:rPr>
              <a:t>Ouverture / fermeture au clic</a:t>
            </a:r>
          </a:p>
          <a:p>
            <a:pPr>
              <a:spcAft>
                <a:spcPts val="400"/>
              </a:spcAft>
            </a:pPr>
            <a:r>
              <a:rPr sz="1500">
                <a:solidFill>
                  <a:srgbClr val="FFFFFF"/>
                </a:solidFill>
                <a:latin typeface="Aptos"/>
              </a:rPr>
              <a:t>Fermeture avec la touche Échap</a:t>
            </a:r>
          </a:p>
          <a:p>
            <a:pPr>
              <a:spcAft>
                <a:spcPts val="400"/>
              </a:spcAft>
            </a:pPr>
            <a:r>
              <a:rPr sz="1500">
                <a:solidFill>
                  <a:srgbClr val="FFFFFF"/>
                </a:solidFill>
                <a:latin typeface="Aptos"/>
              </a:rPr>
              <a:t>Version ordinateur conservée</a:t>
            </a:r>
          </a:p>
          <a:p>
            <a:pPr>
              <a:spcAft>
                <a:spcPts val="400"/>
              </a:spcAft>
            </a:pPr>
            <a:r>
              <a:rPr sz="1500">
                <a:solidFill>
                  <a:srgbClr val="FFFFFF"/>
                </a:solidFill>
                <a:latin typeface="Aptos"/>
              </a:rPr>
              <a:t>Expérience mobile plus professionnelle</a:t>
            </a:r>
          </a:p>
        </p:txBody>
      </p:sp>
      <p:sp>
        <p:nvSpPr>
          <p:cNvPr id="12" name="Rounded Rectangle 11"/>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3" name="Rounded Rectangle 12">
            <a:hlinkClick r:id="rId3"/>
          </p:cNvPr>
          <p:cNvSpPr/>
          <p:nvPr/>
        </p:nvSpPr>
        <p:spPr>
          <a:xfrm>
            <a:off x="594360" y="6172200"/>
            <a:ext cx="2606954"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TESTER LE MENU MOBILE</a:t>
            </a:r>
          </a:p>
        </p:txBody>
      </p:sp>
      <p:sp>
        <p:nvSpPr>
          <p:cNvPr id="14" name="TextBox 13"/>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Mise en valeur des projets</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6/15</a:t>
            </a:r>
          </a:p>
        </p:txBody>
      </p:sp>
      <p:sp>
        <p:nvSpPr>
          <p:cNvPr id="6" name="Rounded Rectangle 5"/>
          <p:cNvSpPr/>
          <p:nvPr/>
        </p:nvSpPr>
        <p:spPr>
          <a:xfrm>
            <a:off x="640080" y="1188720"/>
            <a:ext cx="10972800" cy="457200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10643616" cy="274320"/>
          </a:xfrm>
          <a:prstGeom prst="rect">
            <a:avLst/>
          </a:prstGeom>
          <a:noFill/>
        </p:spPr>
        <p:txBody>
          <a:bodyPr wrap="none">
            <a:spAutoFit/>
          </a:bodyPr>
          <a:lstStyle/>
          <a:p>
            <a:r>
              <a:rPr b="1" sz="1500">
                <a:solidFill>
                  <a:srgbClr val="1769DB"/>
                </a:solidFill>
                <a:latin typeface="Aptos"/>
              </a:rPr>
              <a:t>Projets mis en avant</a:t>
            </a:r>
          </a:p>
        </p:txBody>
      </p:sp>
      <p:sp>
        <p:nvSpPr>
          <p:cNvPr id="8" name="Rounded Rectangle 7"/>
          <p:cNvSpPr/>
          <p:nvPr/>
        </p:nvSpPr>
        <p:spPr>
          <a:xfrm>
            <a:off x="868680" y="17373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PYJOBS</a:t>
            </a:r>
          </a:p>
          <a:p>
            <a:r>
              <a:rPr sz="1100">
                <a:solidFill>
                  <a:srgbClr val="52627A"/>
                </a:solidFill>
                <a:latin typeface="Aptos"/>
              </a:rPr>
              <a:t>React, Vite, Django REST</a:t>
            </a:r>
          </a:p>
        </p:txBody>
      </p:sp>
      <p:sp>
        <p:nvSpPr>
          <p:cNvPr id="9" name="Rounded Rectangle 8"/>
          <p:cNvSpPr/>
          <p:nvPr/>
        </p:nvSpPr>
        <p:spPr>
          <a:xfrm>
            <a:off x="3886200" y="17373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Hangman</a:t>
            </a:r>
          </a:p>
          <a:p>
            <a:r>
              <a:rPr sz="1100">
                <a:solidFill>
                  <a:srgbClr val="52627A"/>
                </a:solidFill>
                <a:latin typeface="Aptos"/>
              </a:rPr>
              <a:t>Python, Pygame</a:t>
            </a:r>
          </a:p>
        </p:txBody>
      </p:sp>
      <p:sp>
        <p:nvSpPr>
          <p:cNvPr id="10" name="Rounded Rectangle 9"/>
          <p:cNvSpPr/>
          <p:nvPr/>
        </p:nvSpPr>
        <p:spPr>
          <a:xfrm>
            <a:off x="6903720" y="17373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CodingPedia</a:t>
            </a:r>
          </a:p>
          <a:p>
            <a:r>
              <a:rPr sz="1100">
                <a:solidFill>
                  <a:srgbClr val="52627A"/>
                </a:solidFill>
                <a:latin typeface="Aptos"/>
              </a:rPr>
              <a:t>HTML, CSS</a:t>
            </a:r>
          </a:p>
        </p:txBody>
      </p:sp>
      <p:sp>
        <p:nvSpPr>
          <p:cNvPr id="11" name="Rounded Rectangle 10"/>
          <p:cNvSpPr/>
          <p:nvPr/>
        </p:nvSpPr>
        <p:spPr>
          <a:xfrm>
            <a:off x="868680" y="33375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Portfolio</a:t>
            </a:r>
          </a:p>
          <a:p>
            <a:r>
              <a:rPr sz="1100">
                <a:solidFill>
                  <a:srgbClr val="52627A"/>
                </a:solidFill>
                <a:latin typeface="Aptos"/>
              </a:rPr>
              <a:t>HTML, CSS, JavaScript</a:t>
            </a:r>
          </a:p>
        </p:txBody>
      </p:sp>
      <p:sp>
        <p:nvSpPr>
          <p:cNvPr id="12" name="Rounded Rectangle 11"/>
          <p:cNvSpPr/>
          <p:nvPr/>
        </p:nvSpPr>
        <p:spPr>
          <a:xfrm>
            <a:off x="3886200" y="33375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Frigorithm</a:t>
            </a:r>
          </a:p>
          <a:p>
            <a:r>
              <a:rPr sz="1100">
                <a:solidFill>
                  <a:srgbClr val="52627A"/>
                </a:solidFill>
                <a:latin typeface="Aptos"/>
              </a:rPr>
              <a:t>Conception produit</a:t>
            </a:r>
          </a:p>
        </p:txBody>
      </p:sp>
      <p:sp>
        <p:nvSpPr>
          <p:cNvPr id="13" name="Rounded Rectangle 12"/>
          <p:cNvSpPr/>
          <p:nvPr/>
        </p:nvSpPr>
        <p:spPr>
          <a:xfrm>
            <a:off x="6903720" y="3337560"/>
            <a:ext cx="2468880" cy="114300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01D38"/>
                </a:solidFill>
                <a:latin typeface="Aptos"/>
              </a:rPr>
              <a:t>Ateliers Java/JS</a:t>
            </a:r>
          </a:p>
          <a:p>
            <a:r>
              <a:rPr sz="1100">
                <a:solidFill>
                  <a:srgbClr val="52627A"/>
                </a:solidFill>
                <a:latin typeface="Aptos"/>
              </a:rPr>
              <a:t>Apprentissage des bases</a:t>
            </a:r>
          </a:p>
        </p:txBody>
      </p:sp>
      <p:sp>
        <p:nvSpPr>
          <p:cNvPr id="14" name="TextBox 13"/>
          <p:cNvSpPr txBox="1"/>
          <p:nvPr/>
        </p:nvSpPr>
        <p:spPr>
          <a:xfrm>
            <a:off x="9555480" y="1737360"/>
            <a:ext cx="1554480" cy="2560320"/>
          </a:xfrm>
          <a:prstGeom prst="rect">
            <a:avLst/>
          </a:prstGeom>
          <a:noFill/>
        </p:spPr>
        <p:txBody>
          <a:bodyPr wrap="none">
            <a:spAutoFit/>
          </a:bodyPr>
          <a:lstStyle/>
          <a:p>
            <a:r>
              <a:rPr sz="1200">
                <a:solidFill>
                  <a:srgbClr val="15233C"/>
                </a:solidFill>
                <a:latin typeface="Aptos"/>
              </a:rPr>
              <a:t>Chaque projet contient un contexte, les technologies utilisées et un accès vers le code public si disponible.</a:t>
            </a:r>
          </a:p>
        </p:txBody>
      </p:sp>
      <p:sp>
        <p:nvSpPr>
          <p:cNvPr id="15" name="Rounded Rectangle 14"/>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6" name="Rounded Rectangle 15">
            <a:hlinkClick r:id="rId3"/>
          </p:cNvPr>
          <p:cNvSpPr/>
          <p:nvPr/>
        </p:nvSpPr>
        <p:spPr>
          <a:xfrm>
            <a:off x="594360" y="6172200"/>
            <a:ext cx="1940356"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PAGE PROJETS</a:t>
            </a:r>
          </a:p>
        </p:txBody>
      </p:sp>
      <p:sp>
        <p:nvSpPr>
          <p:cNvPr id="17" name="Rounded Rectangle 16">
            <a:hlinkClick r:id="rId4"/>
          </p:cNvPr>
          <p:cNvSpPr/>
          <p:nvPr/>
        </p:nvSpPr>
        <p:spPr>
          <a:xfrm>
            <a:off x="2699308" y="6172200"/>
            <a:ext cx="1866290"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CODE PYJOBS</a:t>
            </a:r>
          </a:p>
        </p:txBody>
      </p:sp>
      <p:sp>
        <p:nvSpPr>
          <p:cNvPr id="18" name="TextBox 17"/>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Médias intégrés : vidéo, captures et textes de remplacement</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7/15</a:t>
            </a:r>
          </a:p>
        </p:txBody>
      </p:sp>
      <p:sp>
        <p:nvSpPr>
          <p:cNvPr id="6" name="Rounded Rectangle 5"/>
          <p:cNvSpPr/>
          <p:nvPr/>
        </p:nvSpPr>
        <p:spPr>
          <a:xfrm>
            <a:off x="640080" y="1188720"/>
            <a:ext cx="347472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3145536" cy="274320"/>
          </a:xfrm>
          <a:prstGeom prst="rect">
            <a:avLst/>
          </a:prstGeom>
          <a:noFill/>
        </p:spPr>
        <p:txBody>
          <a:bodyPr wrap="none">
            <a:spAutoFit/>
          </a:bodyPr>
          <a:lstStyle/>
          <a:p>
            <a:r>
              <a:rPr b="1" sz="1500">
                <a:solidFill>
                  <a:srgbClr val="1769DB"/>
                </a:solidFill>
                <a:latin typeface="Aptos"/>
              </a:rPr>
              <a:t>Vidéo &amp; carrousel</a:t>
            </a:r>
          </a:p>
        </p:txBody>
      </p:sp>
      <p:sp>
        <p:nvSpPr>
          <p:cNvPr id="8" name="TextBox 7"/>
          <p:cNvSpPr txBox="1"/>
          <p:nvPr/>
        </p:nvSpPr>
        <p:spPr>
          <a:xfrm>
            <a:off x="914400" y="1645920"/>
            <a:ext cx="2926080" cy="3383280"/>
          </a:xfrm>
          <a:prstGeom prst="rect">
            <a:avLst/>
          </a:prstGeom>
          <a:noFill/>
        </p:spPr>
        <p:txBody>
          <a:bodyPr wrap="square">
            <a:spAutoFit/>
          </a:bodyPr>
          <a:lstStyle/>
          <a:p>
            <a:pPr>
              <a:spcAft>
                <a:spcPts val="400"/>
              </a:spcAft>
            </a:pPr>
            <a:r>
              <a:rPr sz="1400">
                <a:solidFill>
                  <a:srgbClr val="15233C"/>
                </a:solidFill>
                <a:latin typeface="Aptos"/>
              </a:rPr>
              <a:t>Vidéo de démonstration intégrée pour le projet Pendu</a:t>
            </a:r>
          </a:p>
          <a:p>
            <a:pPr>
              <a:spcAft>
                <a:spcPts val="400"/>
              </a:spcAft>
            </a:pPr>
            <a:r>
              <a:rPr sz="1400">
                <a:solidFill>
                  <a:srgbClr val="15233C"/>
                </a:solidFill>
                <a:latin typeface="Aptos"/>
              </a:rPr>
              <a:t>Carrousel d’images pour montrer l’interface de PYJOBS</a:t>
            </a:r>
          </a:p>
          <a:p>
            <a:pPr>
              <a:spcAft>
                <a:spcPts val="400"/>
              </a:spcAft>
            </a:pPr>
            <a:r>
              <a:rPr sz="1400">
                <a:solidFill>
                  <a:srgbClr val="15233C"/>
                </a:solidFill>
                <a:latin typeface="Aptos"/>
              </a:rPr>
              <a:t>Rendu plus concret pour le recruteur / jury</a:t>
            </a:r>
          </a:p>
        </p:txBody>
      </p:sp>
      <p:sp>
        <p:nvSpPr>
          <p:cNvPr id="9" name="Rounded Rectangle 8"/>
          <p:cNvSpPr/>
          <p:nvPr/>
        </p:nvSpPr>
        <p:spPr>
          <a:xfrm>
            <a:off x="4343400" y="1188720"/>
            <a:ext cx="347472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298448"/>
            <a:ext cx="3145536" cy="274320"/>
          </a:xfrm>
          <a:prstGeom prst="rect">
            <a:avLst/>
          </a:prstGeom>
          <a:noFill/>
        </p:spPr>
        <p:txBody>
          <a:bodyPr wrap="none">
            <a:spAutoFit/>
          </a:bodyPr>
          <a:lstStyle/>
          <a:p>
            <a:r>
              <a:rPr b="1" sz="1500">
                <a:solidFill>
                  <a:srgbClr val="FFFFFF"/>
                </a:solidFill>
                <a:latin typeface="Aptos"/>
              </a:rPr>
              <a:t>Textes de remplacement</a:t>
            </a:r>
          </a:p>
        </p:txBody>
      </p:sp>
      <p:sp>
        <p:nvSpPr>
          <p:cNvPr id="11" name="TextBox 10"/>
          <p:cNvSpPr txBox="1"/>
          <p:nvPr/>
        </p:nvSpPr>
        <p:spPr>
          <a:xfrm>
            <a:off x="4617720" y="1645920"/>
            <a:ext cx="2834640" cy="3291840"/>
          </a:xfrm>
          <a:prstGeom prst="rect">
            <a:avLst/>
          </a:prstGeom>
          <a:noFill/>
        </p:spPr>
        <p:txBody>
          <a:bodyPr wrap="square">
            <a:spAutoFit/>
          </a:bodyPr>
          <a:lstStyle/>
          <a:p>
            <a:pPr>
              <a:spcAft>
                <a:spcPts val="400"/>
              </a:spcAft>
            </a:pPr>
            <a:r>
              <a:rPr sz="1400">
                <a:solidFill>
                  <a:srgbClr val="FFFFFF"/>
                </a:solidFill>
                <a:latin typeface="Aptos"/>
              </a:rPr>
              <a:t>Quand certaines images manquaient, j’ai mis du texte explicatif à la place</a:t>
            </a:r>
          </a:p>
          <a:p>
            <a:pPr>
              <a:spcAft>
                <a:spcPts val="400"/>
              </a:spcAft>
            </a:pPr>
            <a:r>
              <a:rPr sz="1400">
                <a:solidFill>
                  <a:srgbClr val="FFFFFF"/>
                </a:solidFill>
                <a:latin typeface="Aptos"/>
              </a:rPr>
              <a:t>Objectif : garder une page claire et complète</a:t>
            </a:r>
          </a:p>
        </p:txBody>
      </p:sp>
      <p:sp>
        <p:nvSpPr>
          <p:cNvPr id="12" name="Rounded Rectangle 11"/>
          <p:cNvSpPr/>
          <p:nvPr/>
        </p:nvSpPr>
        <p:spPr>
          <a:xfrm>
            <a:off x="8046720" y="1188720"/>
            <a:ext cx="356616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298448"/>
            <a:ext cx="3236976" cy="274320"/>
          </a:xfrm>
          <a:prstGeom prst="rect">
            <a:avLst/>
          </a:prstGeom>
          <a:noFill/>
        </p:spPr>
        <p:txBody>
          <a:bodyPr wrap="none">
            <a:spAutoFit/>
          </a:bodyPr>
          <a:lstStyle/>
          <a:p>
            <a:r>
              <a:rPr b="1" sz="1500">
                <a:solidFill>
                  <a:srgbClr val="1769DB"/>
                </a:solidFill>
                <a:latin typeface="Aptos"/>
              </a:rPr>
              <a:t>Liens cliquables</a:t>
            </a:r>
          </a:p>
        </p:txBody>
      </p:sp>
      <p:sp>
        <p:nvSpPr>
          <p:cNvPr id="14" name="TextBox 13"/>
          <p:cNvSpPr txBox="1"/>
          <p:nvPr/>
        </p:nvSpPr>
        <p:spPr>
          <a:xfrm>
            <a:off x="8321040" y="1645920"/>
            <a:ext cx="2926080" cy="3383280"/>
          </a:xfrm>
          <a:prstGeom prst="rect">
            <a:avLst/>
          </a:prstGeom>
          <a:noFill/>
        </p:spPr>
        <p:txBody>
          <a:bodyPr wrap="square">
            <a:spAutoFit/>
          </a:bodyPr>
          <a:lstStyle/>
          <a:p>
            <a:pPr>
              <a:spcAft>
                <a:spcPts val="400"/>
              </a:spcAft>
            </a:pPr>
            <a:r>
              <a:rPr sz="1400">
                <a:solidFill>
                  <a:srgbClr val="15233C"/>
                </a:solidFill>
                <a:latin typeface="Aptos"/>
              </a:rPr>
              <a:t>Liens GitHub</a:t>
            </a:r>
          </a:p>
          <a:p>
            <a:pPr>
              <a:spcAft>
                <a:spcPts val="400"/>
              </a:spcAft>
            </a:pPr>
            <a:r>
              <a:rPr sz="1400">
                <a:solidFill>
                  <a:srgbClr val="15233C"/>
                </a:solidFill>
                <a:latin typeface="Aptos"/>
              </a:rPr>
              <a:t>Lien LinkedIn</a:t>
            </a:r>
          </a:p>
          <a:p>
            <a:pPr>
              <a:spcAft>
                <a:spcPts val="400"/>
              </a:spcAft>
            </a:pPr>
            <a:r>
              <a:rPr sz="1400">
                <a:solidFill>
                  <a:srgbClr val="15233C"/>
                </a:solidFill>
                <a:latin typeface="Aptos"/>
              </a:rPr>
              <a:t>Téléchargement du CV</a:t>
            </a:r>
          </a:p>
          <a:p>
            <a:pPr>
              <a:spcAft>
                <a:spcPts val="400"/>
              </a:spcAft>
            </a:pPr>
            <a:r>
              <a:rPr sz="1400">
                <a:solidFill>
                  <a:srgbClr val="15233C"/>
                </a:solidFill>
                <a:latin typeface="Aptos"/>
              </a:rPr>
              <a:t>Boutons 'Voir le code' vers les dépôts publics</a:t>
            </a:r>
          </a:p>
        </p:txBody>
      </p:sp>
      <p:sp>
        <p:nvSpPr>
          <p:cNvPr id="15" name="Rounded Rectangle 14"/>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6" name="Rounded Rectangle 15">
            <a:hlinkClick r:id="rId3"/>
          </p:cNvPr>
          <p:cNvSpPr/>
          <p:nvPr/>
        </p:nvSpPr>
        <p:spPr>
          <a:xfrm>
            <a:off x="594360" y="6172200"/>
            <a:ext cx="2829153"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LANCER LA VIDEO DU PENDU</a:t>
            </a:r>
          </a:p>
        </p:txBody>
      </p:sp>
      <p:sp>
        <p:nvSpPr>
          <p:cNvPr id="17" name="Rounded Rectangle 16">
            <a:hlinkClick r:id="rId3"/>
          </p:cNvPr>
          <p:cNvSpPr/>
          <p:nvPr/>
        </p:nvSpPr>
        <p:spPr>
          <a:xfrm>
            <a:off x="3588105" y="6172200"/>
            <a:ext cx="2236622"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CARROUSEL PYJOBS</a:t>
            </a:r>
          </a:p>
        </p:txBody>
      </p:sp>
      <p:sp>
        <p:nvSpPr>
          <p:cNvPr id="18" name="TextBox 17"/>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CV téléchargeable &amp; formulaire de contact</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8/15</a:t>
            </a:r>
          </a:p>
        </p:txBody>
      </p:sp>
      <p:sp>
        <p:nvSpPr>
          <p:cNvPr id="6" name="Rounded Rectangle 5"/>
          <p:cNvSpPr/>
          <p:nvPr/>
        </p:nvSpPr>
        <p:spPr>
          <a:xfrm>
            <a:off x="640080" y="1188720"/>
            <a:ext cx="530352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4974336" cy="274320"/>
          </a:xfrm>
          <a:prstGeom prst="rect">
            <a:avLst/>
          </a:prstGeom>
          <a:noFill/>
        </p:spPr>
        <p:txBody>
          <a:bodyPr wrap="none">
            <a:spAutoFit/>
          </a:bodyPr>
          <a:lstStyle/>
          <a:p>
            <a:r>
              <a:rPr b="1" sz="1500">
                <a:solidFill>
                  <a:srgbClr val="1769DB"/>
                </a:solidFill>
                <a:latin typeface="Aptos"/>
              </a:rPr>
              <a:t>CV téléchargeable</a:t>
            </a:r>
          </a:p>
        </p:txBody>
      </p:sp>
      <p:sp>
        <p:nvSpPr>
          <p:cNvPr id="8" name="TextBox 7"/>
          <p:cNvSpPr txBox="1"/>
          <p:nvPr/>
        </p:nvSpPr>
        <p:spPr>
          <a:xfrm>
            <a:off x="914400" y="1691640"/>
            <a:ext cx="4663440" cy="3200400"/>
          </a:xfrm>
          <a:prstGeom prst="rect">
            <a:avLst/>
          </a:prstGeom>
          <a:noFill/>
        </p:spPr>
        <p:txBody>
          <a:bodyPr wrap="square">
            <a:spAutoFit/>
          </a:bodyPr>
          <a:lstStyle/>
          <a:p>
            <a:pPr>
              <a:spcAft>
                <a:spcPts val="400"/>
              </a:spcAft>
            </a:pPr>
            <a:r>
              <a:rPr sz="1500">
                <a:solidFill>
                  <a:srgbClr val="15233C"/>
                </a:solidFill>
                <a:latin typeface="Aptos"/>
              </a:rPr>
              <a:t>Bouton présent sur la page d’accueil</a:t>
            </a:r>
          </a:p>
          <a:p>
            <a:pPr>
              <a:spcAft>
                <a:spcPts val="400"/>
              </a:spcAft>
            </a:pPr>
            <a:r>
              <a:rPr sz="1500">
                <a:solidFill>
                  <a:srgbClr val="15233C"/>
                </a:solidFill>
                <a:latin typeface="Aptos"/>
              </a:rPr>
              <a:t>Attribut download dans le lien HTML</a:t>
            </a:r>
          </a:p>
          <a:p>
            <a:pPr>
              <a:spcAft>
                <a:spcPts val="400"/>
              </a:spcAft>
            </a:pPr>
            <a:r>
              <a:rPr sz="1500">
                <a:solidFill>
                  <a:srgbClr val="15233C"/>
                </a:solidFill>
                <a:latin typeface="Aptos"/>
              </a:rPr>
              <a:t>Accès direct pour un recruteur</a:t>
            </a:r>
          </a:p>
        </p:txBody>
      </p:sp>
      <p:sp>
        <p:nvSpPr>
          <p:cNvPr id="9" name="TextBox 8"/>
          <p:cNvSpPr txBox="1"/>
          <p:nvPr/>
        </p:nvSpPr>
        <p:spPr>
          <a:xfrm>
            <a:off x="914400" y="3337560"/>
            <a:ext cx="4572000" cy="914400"/>
          </a:xfrm>
          <a:prstGeom prst="rect">
            <a:avLst/>
          </a:prstGeom>
          <a:noFill/>
        </p:spPr>
        <p:txBody>
          <a:bodyPr wrap="none">
            <a:spAutoFit/>
          </a:bodyPr>
          <a:lstStyle/>
          <a:p>
            <a:r>
              <a:rPr sz="1200">
                <a:solidFill>
                  <a:srgbClr val="1769DB"/>
                </a:solidFill>
                <a:latin typeface="Courier New"/>
              </a:rPr>
              <a:t>&lt;a href="documents/cv-mehdi-lrhoula.pdf" download&gt;</a:t>
            </a:r>
          </a:p>
        </p:txBody>
      </p:sp>
      <p:sp>
        <p:nvSpPr>
          <p:cNvPr id="10" name="Rounded Rectangle 9"/>
          <p:cNvSpPr/>
          <p:nvPr/>
        </p:nvSpPr>
        <p:spPr>
          <a:xfrm>
            <a:off x="6172200" y="1188720"/>
            <a:ext cx="534924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298448"/>
            <a:ext cx="5020056" cy="274320"/>
          </a:xfrm>
          <a:prstGeom prst="rect">
            <a:avLst/>
          </a:prstGeom>
          <a:noFill/>
        </p:spPr>
        <p:txBody>
          <a:bodyPr wrap="none">
            <a:spAutoFit/>
          </a:bodyPr>
          <a:lstStyle/>
          <a:p>
            <a:r>
              <a:rPr b="1" sz="1500">
                <a:solidFill>
                  <a:srgbClr val="FFFFFF"/>
                </a:solidFill>
                <a:latin typeface="Aptos"/>
              </a:rPr>
              <a:t>Formulaire de contact</a:t>
            </a:r>
          </a:p>
        </p:txBody>
      </p:sp>
      <p:sp>
        <p:nvSpPr>
          <p:cNvPr id="12" name="TextBox 11"/>
          <p:cNvSpPr txBox="1"/>
          <p:nvPr/>
        </p:nvSpPr>
        <p:spPr>
          <a:xfrm>
            <a:off x="6446520" y="1691640"/>
            <a:ext cx="4754880" cy="3200400"/>
          </a:xfrm>
          <a:prstGeom prst="rect">
            <a:avLst/>
          </a:prstGeom>
          <a:noFill/>
        </p:spPr>
        <p:txBody>
          <a:bodyPr wrap="square">
            <a:spAutoFit/>
          </a:bodyPr>
          <a:lstStyle/>
          <a:p>
            <a:pPr>
              <a:spcAft>
                <a:spcPts val="400"/>
              </a:spcAft>
            </a:pPr>
            <a:r>
              <a:rPr sz="1500">
                <a:solidFill>
                  <a:srgbClr val="FFFFFF"/>
                </a:solidFill>
                <a:latin typeface="Aptos"/>
              </a:rPr>
              <a:t>Nom, email et message</a:t>
            </a:r>
          </a:p>
          <a:p>
            <a:pPr>
              <a:spcAft>
                <a:spcPts val="400"/>
              </a:spcAft>
            </a:pPr>
            <a:r>
              <a:rPr sz="1500">
                <a:solidFill>
                  <a:srgbClr val="FFFFFF"/>
                </a:solidFill>
                <a:latin typeface="Aptos"/>
              </a:rPr>
              <a:t>Vérification des champs en JavaScript</a:t>
            </a:r>
          </a:p>
          <a:p>
            <a:pPr>
              <a:spcAft>
                <a:spcPts val="400"/>
              </a:spcAft>
            </a:pPr>
            <a:r>
              <a:rPr sz="1500">
                <a:solidFill>
                  <a:srgbClr val="FFFFFF"/>
                </a:solidFill>
                <a:latin typeface="Aptos"/>
              </a:rPr>
              <a:t>Préparation automatique d’un email</a:t>
            </a:r>
          </a:p>
          <a:p>
            <a:pPr>
              <a:spcAft>
                <a:spcPts val="400"/>
              </a:spcAft>
            </a:pPr>
            <a:r>
              <a:rPr sz="1500">
                <a:solidFill>
                  <a:srgbClr val="FFFFFF"/>
                </a:solidFill>
                <a:latin typeface="Aptos"/>
              </a:rPr>
              <a:t>Ouverture d’Outlook / de la messagerie configurée</a:t>
            </a:r>
          </a:p>
        </p:txBody>
      </p:sp>
      <p:sp>
        <p:nvSpPr>
          <p:cNvPr id="13" name="Rounded Rectangle 12"/>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4" name="Rounded Rectangle 13">
            <a:hlinkClick r:id="rId3"/>
          </p:cNvPr>
          <p:cNvSpPr/>
          <p:nvPr/>
        </p:nvSpPr>
        <p:spPr>
          <a:xfrm>
            <a:off x="594360" y="6172200"/>
            <a:ext cx="2310688"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TELECHARGER LE CV</a:t>
            </a:r>
          </a:p>
        </p:txBody>
      </p:sp>
      <p:sp>
        <p:nvSpPr>
          <p:cNvPr id="15" name="Rounded Rectangle 14">
            <a:hlinkClick r:id="rId4"/>
          </p:cNvPr>
          <p:cNvSpPr/>
          <p:nvPr/>
        </p:nvSpPr>
        <p:spPr>
          <a:xfrm>
            <a:off x="3069640" y="6172200"/>
            <a:ext cx="1940356"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PAGE CONTACT</a:t>
            </a:r>
          </a:p>
        </p:txBody>
      </p:sp>
      <p:sp>
        <p:nvSpPr>
          <p:cNvPr id="16" name="TextBox 15"/>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Traduction automatique FR / EN</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9/15</a:t>
            </a:r>
          </a:p>
        </p:txBody>
      </p:sp>
      <p:sp>
        <p:nvSpPr>
          <p:cNvPr id="6" name="Rounded Rectangle 5"/>
          <p:cNvSpPr/>
          <p:nvPr/>
        </p:nvSpPr>
        <p:spPr>
          <a:xfrm>
            <a:off x="640080" y="1188720"/>
            <a:ext cx="10972800" cy="457200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10643616" cy="274320"/>
          </a:xfrm>
          <a:prstGeom prst="rect">
            <a:avLst/>
          </a:prstGeom>
          <a:noFill/>
        </p:spPr>
        <p:txBody>
          <a:bodyPr wrap="none">
            <a:spAutoFit/>
          </a:bodyPr>
          <a:lstStyle/>
          <a:p>
            <a:r>
              <a:rPr b="1" sz="1500">
                <a:solidFill>
                  <a:srgbClr val="1769DB"/>
                </a:solidFill>
                <a:latin typeface="Aptos"/>
              </a:rPr>
              <a:t>Internationalisation</a:t>
            </a:r>
          </a:p>
        </p:txBody>
      </p:sp>
      <p:sp>
        <p:nvSpPr>
          <p:cNvPr id="8" name="TextBox 7"/>
          <p:cNvSpPr txBox="1"/>
          <p:nvPr/>
        </p:nvSpPr>
        <p:spPr>
          <a:xfrm>
            <a:off x="914400" y="1737360"/>
            <a:ext cx="4754880" cy="3474720"/>
          </a:xfrm>
          <a:prstGeom prst="rect">
            <a:avLst/>
          </a:prstGeom>
          <a:noFill/>
        </p:spPr>
        <p:txBody>
          <a:bodyPr wrap="square">
            <a:spAutoFit/>
          </a:bodyPr>
          <a:lstStyle/>
          <a:p>
            <a:pPr>
              <a:spcAft>
                <a:spcPts val="400"/>
              </a:spcAft>
            </a:pPr>
            <a:r>
              <a:rPr sz="1600">
                <a:solidFill>
                  <a:srgbClr val="15233C"/>
                </a:solidFill>
                <a:latin typeface="Aptos"/>
              </a:rPr>
              <a:t>Boutons FR / EN présents dans le header</a:t>
            </a:r>
          </a:p>
          <a:p>
            <a:pPr>
              <a:spcAft>
                <a:spcPts val="400"/>
              </a:spcAft>
            </a:pPr>
            <a:r>
              <a:rPr sz="1600">
                <a:solidFill>
                  <a:srgbClr val="15233C"/>
                </a:solidFill>
                <a:latin typeface="Aptos"/>
              </a:rPr>
              <a:t>Textes traduits via data-i18n</a:t>
            </a:r>
          </a:p>
          <a:p>
            <a:pPr>
              <a:spcAft>
                <a:spcPts val="400"/>
              </a:spcAft>
            </a:pPr>
            <a:r>
              <a:rPr sz="1600">
                <a:solidFill>
                  <a:srgbClr val="15233C"/>
                </a:solidFill>
                <a:latin typeface="Aptos"/>
              </a:rPr>
              <a:t>Centralisation des traductions dans lang.js</a:t>
            </a:r>
          </a:p>
          <a:p>
            <a:pPr>
              <a:spcAft>
                <a:spcPts val="400"/>
              </a:spcAft>
            </a:pPr>
            <a:r>
              <a:rPr sz="1600">
                <a:solidFill>
                  <a:srgbClr val="15233C"/>
                </a:solidFill>
                <a:latin typeface="Aptos"/>
              </a:rPr>
              <a:t>Mémorisation de la langue avec localStorage</a:t>
            </a:r>
          </a:p>
        </p:txBody>
      </p:sp>
      <p:sp>
        <p:nvSpPr>
          <p:cNvPr id="9" name="TextBox 8"/>
          <p:cNvSpPr txBox="1"/>
          <p:nvPr/>
        </p:nvSpPr>
        <p:spPr>
          <a:xfrm>
            <a:off x="6126480" y="1783080"/>
            <a:ext cx="4754880" cy="2011680"/>
          </a:xfrm>
          <a:prstGeom prst="rect">
            <a:avLst/>
          </a:prstGeom>
          <a:noFill/>
        </p:spPr>
        <p:txBody>
          <a:bodyPr wrap="none">
            <a:spAutoFit/>
          </a:bodyPr>
          <a:lstStyle/>
          <a:p>
            <a:r>
              <a:rPr sz="1300">
                <a:solidFill>
                  <a:srgbClr val="1769DB"/>
                </a:solidFill>
                <a:latin typeface="Courier New"/>
              </a:rPr>
              <a:t>const savedLanguage = localStorage.getItem("language");</a:t>
            </a:r>
          </a:p>
          <a:p>
            <a:r>
              <a:rPr sz="1300">
                <a:solidFill>
                  <a:srgbClr val="1769DB"/>
                </a:solidFill>
                <a:latin typeface="Courier New"/>
              </a:rPr>
              <a:t>changeLanguage(savedLanguage);</a:t>
            </a:r>
          </a:p>
          <a:p>
            <a:r>
              <a:rPr sz="1300">
                <a:solidFill>
                  <a:srgbClr val="101D38"/>
                </a:solidFill>
                <a:latin typeface="Courier New"/>
              </a:rPr>
              <a:t>&lt;h1 data-i18n="skillsTitle"&gt;Mes compétences&lt;/h1&gt;</a:t>
            </a:r>
          </a:p>
        </p:txBody>
      </p:sp>
      <p:sp>
        <p:nvSpPr>
          <p:cNvPr id="10" name="TextBox 9"/>
          <p:cNvSpPr txBox="1"/>
          <p:nvPr/>
        </p:nvSpPr>
        <p:spPr>
          <a:xfrm>
            <a:off x="6126480" y="4114800"/>
            <a:ext cx="4572000" cy="822960"/>
          </a:xfrm>
          <a:prstGeom prst="rect">
            <a:avLst/>
          </a:prstGeom>
          <a:noFill/>
        </p:spPr>
        <p:txBody>
          <a:bodyPr wrap="none">
            <a:spAutoFit/>
          </a:bodyPr>
          <a:lstStyle/>
          <a:p>
            <a:r>
              <a:rPr sz="1300">
                <a:solidFill>
                  <a:srgbClr val="15233C"/>
                </a:solidFill>
                <a:latin typeface="Aptos"/>
              </a:rPr>
              <a:t>L’objectif était d’avoir un même site, sans dupliquer les pages HTML, tout en restant simple à maintenir.</a:t>
            </a:r>
          </a:p>
        </p:txBody>
      </p:sp>
      <p:sp>
        <p:nvSpPr>
          <p:cNvPr id="11" name="Rounded Rectangle 10"/>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2" name="Rounded Rectangle 11">
            <a:hlinkClick r:id="rId3"/>
          </p:cNvPr>
          <p:cNvSpPr/>
          <p:nvPr/>
        </p:nvSpPr>
        <p:spPr>
          <a:xfrm>
            <a:off x="594360" y="6172200"/>
            <a:ext cx="2088489"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TESTER FR / EN</a:t>
            </a:r>
          </a:p>
        </p:txBody>
      </p:sp>
      <p:sp>
        <p:nvSpPr>
          <p:cNvPr id="13" name="TextBox 12"/>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Accessibilité &amp; bonnes pratiques</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10/15</a:t>
            </a:r>
          </a:p>
        </p:txBody>
      </p:sp>
      <p:sp>
        <p:nvSpPr>
          <p:cNvPr id="6" name="Rounded Rectangle 5"/>
          <p:cNvSpPr/>
          <p:nvPr/>
        </p:nvSpPr>
        <p:spPr>
          <a:xfrm>
            <a:off x="640080" y="1188720"/>
            <a:ext cx="521208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4882896" cy="274320"/>
          </a:xfrm>
          <a:prstGeom prst="rect">
            <a:avLst/>
          </a:prstGeom>
          <a:noFill/>
        </p:spPr>
        <p:txBody>
          <a:bodyPr wrap="none">
            <a:spAutoFit/>
          </a:bodyPr>
          <a:lstStyle/>
          <a:p>
            <a:r>
              <a:rPr b="1" sz="1500">
                <a:solidFill>
                  <a:srgbClr val="1769DB"/>
                </a:solidFill>
                <a:latin typeface="Aptos"/>
              </a:rPr>
              <a:t>Accessibilité</a:t>
            </a:r>
          </a:p>
        </p:txBody>
      </p:sp>
      <p:sp>
        <p:nvSpPr>
          <p:cNvPr id="8" name="TextBox 7"/>
          <p:cNvSpPr txBox="1"/>
          <p:nvPr/>
        </p:nvSpPr>
        <p:spPr>
          <a:xfrm>
            <a:off x="914400" y="1645920"/>
            <a:ext cx="4572000" cy="3383280"/>
          </a:xfrm>
          <a:prstGeom prst="rect">
            <a:avLst/>
          </a:prstGeom>
          <a:noFill/>
        </p:spPr>
        <p:txBody>
          <a:bodyPr wrap="square">
            <a:spAutoFit/>
          </a:bodyPr>
          <a:lstStyle/>
          <a:p>
            <a:pPr>
              <a:spcAft>
                <a:spcPts val="400"/>
              </a:spcAft>
            </a:pPr>
            <a:r>
              <a:rPr sz="1500">
                <a:solidFill>
                  <a:srgbClr val="15233C"/>
                </a:solidFill>
                <a:latin typeface="Aptos"/>
              </a:rPr>
              <a:t>Structure HTML sémantique</a:t>
            </a:r>
          </a:p>
          <a:p>
            <a:pPr>
              <a:spcAft>
                <a:spcPts val="400"/>
              </a:spcAft>
            </a:pPr>
            <a:r>
              <a:rPr sz="1500">
                <a:solidFill>
                  <a:srgbClr val="15233C"/>
                </a:solidFill>
                <a:latin typeface="Aptos"/>
              </a:rPr>
              <a:t>Labels associés aux champs du formulaire</a:t>
            </a:r>
          </a:p>
          <a:p>
            <a:pPr>
              <a:spcAft>
                <a:spcPts val="400"/>
              </a:spcAft>
            </a:pPr>
            <a:r>
              <a:rPr sz="1500">
                <a:solidFill>
                  <a:srgbClr val="15233C"/>
                </a:solidFill>
                <a:latin typeface="Aptos"/>
              </a:rPr>
              <a:t>États de focus visibles</a:t>
            </a:r>
          </a:p>
          <a:p>
            <a:pPr>
              <a:spcAft>
                <a:spcPts val="400"/>
              </a:spcAft>
            </a:pPr>
            <a:r>
              <a:rPr sz="1500">
                <a:solidFill>
                  <a:srgbClr val="15233C"/>
                </a:solidFill>
                <a:latin typeface="Aptos"/>
              </a:rPr>
              <a:t>Attributs ARIA pour la navigation et le menu</a:t>
            </a:r>
          </a:p>
          <a:p>
            <a:pPr>
              <a:spcAft>
                <a:spcPts val="400"/>
              </a:spcAft>
            </a:pPr>
            <a:r>
              <a:rPr sz="1500">
                <a:solidFill>
                  <a:srgbClr val="15233C"/>
                </a:solidFill>
                <a:latin typeface="Aptos"/>
              </a:rPr>
              <a:t>Utilisation possible au clavier</a:t>
            </a:r>
          </a:p>
        </p:txBody>
      </p:sp>
      <p:sp>
        <p:nvSpPr>
          <p:cNvPr id="9" name="Rounded Rectangle 8"/>
          <p:cNvSpPr/>
          <p:nvPr/>
        </p:nvSpPr>
        <p:spPr>
          <a:xfrm>
            <a:off x="6080760" y="1188720"/>
            <a:ext cx="544068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298448"/>
            <a:ext cx="5111496" cy="274320"/>
          </a:xfrm>
          <a:prstGeom prst="rect">
            <a:avLst/>
          </a:prstGeom>
          <a:noFill/>
        </p:spPr>
        <p:txBody>
          <a:bodyPr wrap="none">
            <a:spAutoFit/>
          </a:bodyPr>
          <a:lstStyle/>
          <a:p>
            <a:r>
              <a:rPr b="1" sz="1500">
                <a:solidFill>
                  <a:srgbClr val="FFFFFF"/>
                </a:solidFill>
                <a:latin typeface="Aptos"/>
              </a:rPr>
              <a:t>Bonnes pratiques</a:t>
            </a:r>
          </a:p>
        </p:txBody>
      </p:sp>
      <p:sp>
        <p:nvSpPr>
          <p:cNvPr id="11" name="TextBox 10"/>
          <p:cNvSpPr txBox="1"/>
          <p:nvPr/>
        </p:nvSpPr>
        <p:spPr>
          <a:xfrm>
            <a:off x="6355080" y="1645920"/>
            <a:ext cx="4754880" cy="3383280"/>
          </a:xfrm>
          <a:prstGeom prst="rect">
            <a:avLst/>
          </a:prstGeom>
          <a:noFill/>
        </p:spPr>
        <p:txBody>
          <a:bodyPr wrap="square">
            <a:spAutoFit/>
          </a:bodyPr>
          <a:lstStyle/>
          <a:p>
            <a:pPr>
              <a:spcAft>
                <a:spcPts val="400"/>
              </a:spcAft>
            </a:pPr>
            <a:r>
              <a:rPr sz="1500">
                <a:solidFill>
                  <a:srgbClr val="FFFFFF"/>
                </a:solidFill>
                <a:latin typeface="Aptos"/>
              </a:rPr>
              <a:t>Fichiers séparés : HTML / CSS / JS</a:t>
            </a:r>
          </a:p>
          <a:p>
            <a:pPr>
              <a:spcAft>
                <a:spcPts val="400"/>
              </a:spcAft>
            </a:pPr>
            <a:r>
              <a:rPr sz="1500">
                <a:solidFill>
                  <a:srgbClr val="FFFFFF"/>
                </a:solidFill>
                <a:latin typeface="Aptos"/>
              </a:rPr>
              <a:t>Design cohérent et réutilisable</a:t>
            </a:r>
          </a:p>
          <a:p>
            <a:pPr>
              <a:spcAft>
                <a:spcPts val="400"/>
              </a:spcAft>
            </a:pPr>
            <a:r>
              <a:rPr sz="1500">
                <a:solidFill>
                  <a:srgbClr val="FFFFFF"/>
                </a:solidFill>
                <a:latin typeface="Aptos"/>
              </a:rPr>
              <a:t>Liens externes sécurisés avec rel='noopener noreferrer'</a:t>
            </a:r>
          </a:p>
          <a:p>
            <a:pPr>
              <a:spcAft>
                <a:spcPts val="400"/>
              </a:spcAft>
            </a:pPr>
            <a:r>
              <a:rPr sz="1500">
                <a:solidFill>
                  <a:srgbClr val="FFFFFF"/>
                </a:solidFill>
                <a:latin typeface="Aptos"/>
              </a:rPr>
              <a:t>Portfolio hébergé et versionné avec GitHub</a:t>
            </a:r>
          </a:p>
        </p:txBody>
      </p:sp>
      <p:sp>
        <p:nvSpPr>
          <p:cNvPr id="12" name="Rounded Rectangle 11"/>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3" name="Rounded Rectangle 12">
            <a:hlinkClick r:id="rId3"/>
          </p:cNvPr>
          <p:cNvSpPr/>
          <p:nvPr/>
        </p:nvSpPr>
        <p:spPr>
          <a:xfrm>
            <a:off x="594360" y="6172200"/>
            <a:ext cx="1792224"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FORMULAIRE</a:t>
            </a:r>
          </a:p>
        </p:txBody>
      </p:sp>
      <p:sp>
        <p:nvSpPr>
          <p:cNvPr id="14" name="TextBox 13"/>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Résultats Lighthouse — page d’accueil mobile</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11/15</a:t>
            </a:r>
          </a:p>
        </p:txBody>
      </p:sp>
      <p:sp>
        <p:nvSpPr>
          <p:cNvPr id="6" name="Rounded Rectangle 5"/>
          <p:cNvSpPr/>
          <p:nvPr/>
        </p:nvSpPr>
        <p:spPr>
          <a:xfrm>
            <a:off x="640080" y="1188720"/>
            <a:ext cx="640080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6071616" cy="274320"/>
          </a:xfrm>
          <a:prstGeom prst="rect">
            <a:avLst/>
          </a:prstGeom>
          <a:noFill/>
        </p:spPr>
        <p:txBody>
          <a:bodyPr wrap="none">
            <a:spAutoFit/>
          </a:bodyPr>
          <a:lstStyle/>
          <a:p>
            <a:r>
              <a:rPr b="1" sz="1500">
                <a:solidFill>
                  <a:srgbClr val="1769DB"/>
                </a:solidFill>
                <a:latin typeface="Aptos"/>
              </a:rPr>
              <a:t>Scores Lighthouse — accueil mobile</a:t>
            </a:r>
          </a:p>
        </p:txBody>
      </p:sp>
      <p:sp>
        <p:nvSpPr>
          <p:cNvPr id="8" name="Oval 7"/>
          <p:cNvSpPr/>
          <p:nvPr/>
        </p:nvSpPr>
        <p:spPr>
          <a:xfrm>
            <a:off x="1097280" y="1783080"/>
            <a:ext cx="914400" cy="914400"/>
          </a:xfrm>
          <a:prstGeom prst="ellipse">
            <a:avLst/>
          </a:prstGeom>
          <a:solidFill>
            <a:srgbClr val="FFFFFF"/>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84248"/>
            <a:ext cx="914400" cy="320040"/>
          </a:xfrm>
          <a:prstGeom prst="rect">
            <a:avLst/>
          </a:prstGeom>
          <a:noFill/>
        </p:spPr>
        <p:txBody>
          <a:bodyPr wrap="none">
            <a:spAutoFit/>
          </a:bodyPr>
          <a:lstStyle/>
          <a:p>
            <a:pPr algn="ctr"/>
            <a:r>
              <a:rPr sz="1700" b="1">
                <a:solidFill>
                  <a:srgbClr val="F59E0B"/>
                </a:solidFill>
                <a:latin typeface="Aptos"/>
              </a:rPr>
              <a:t>99</a:t>
            </a:r>
          </a:p>
        </p:txBody>
      </p:sp>
      <p:sp>
        <p:nvSpPr>
          <p:cNvPr id="10" name="TextBox 9"/>
          <p:cNvSpPr txBox="1"/>
          <p:nvPr/>
        </p:nvSpPr>
        <p:spPr>
          <a:xfrm>
            <a:off x="685800" y="2770632"/>
            <a:ext cx="1737360" cy="365760"/>
          </a:xfrm>
          <a:prstGeom prst="rect">
            <a:avLst/>
          </a:prstGeom>
          <a:noFill/>
        </p:spPr>
        <p:txBody>
          <a:bodyPr wrap="none">
            <a:spAutoFit/>
          </a:bodyPr>
          <a:lstStyle/>
          <a:p>
            <a:pPr algn="ctr"/>
            <a:r>
              <a:rPr sz="1200">
                <a:solidFill>
                  <a:srgbClr val="15233C"/>
                </a:solidFill>
                <a:latin typeface="Aptos"/>
              </a:rPr>
              <a:t>Performances</a:t>
            </a:r>
          </a:p>
        </p:txBody>
      </p:sp>
      <p:sp>
        <p:nvSpPr>
          <p:cNvPr id="11" name="Oval 10"/>
          <p:cNvSpPr/>
          <p:nvPr/>
        </p:nvSpPr>
        <p:spPr>
          <a:xfrm>
            <a:off x="3749039" y="1783080"/>
            <a:ext cx="914400" cy="914400"/>
          </a:xfrm>
          <a:prstGeom prst="ellipse">
            <a:avLst/>
          </a:prstGeom>
          <a:solidFill>
            <a:srgbClr val="FFFFFF"/>
          </a:solidFill>
          <a:ln w="38100">
            <a:solidFill>
              <a:srgbClr val="10B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1984248"/>
            <a:ext cx="914400" cy="320040"/>
          </a:xfrm>
          <a:prstGeom prst="rect">
            <a:avLst/>
          </a:prstGeom>
          <a:noFill/>
        </p:spPr>
        <p:txBody>
          <a:bodyPr wrap="none">
            <a:spAutoFit/>
          </a:bodyPr>
          <a:lstStyle/>
          <a:p>
            <a:pPr algn="ctr"/>
            <a:r>
              <a:rPr sz="1700" b="1">
                <a:solidFill>
                  <a:srgbClr val="10B959"/>
                </a:solidFill>
                <a:latin typeface="Aptos"/>
              </a:rPr>
              <a:t>100</a:t>
            </a:r>
          </a:p>
        </p:txBody>
      </p:sp>
      <p:sp>
        <p:nvSpPr>
          <p:cNvPr id="13" name="TextBox 12"/>
          <p:cNvSpPr txBox="1"/>
          <p:nvPr/>
        </p:nvSpPr>
        <p:spPr>
          <a:xfrm>
            <a:off x="3337559" y="2770632"/>
            <a:ext cx="1737360" cy="365760"/>
          </a:xfrm>
          <a:prstGeom prst="rect">
            <a:avLst/>
          </a:prstGeom>
          <a:noFill/>
        </p:spPr>
        <p:txBody>
          <a:bodyPr wrap="none">
            <a:spAutoFit/>
          </a:bodyPr>
          <a:lstStyle/>
          <a:p>
            <a:pPr algn="ctr"/>
            <a:r>
              <a:rPr sz="1200">
                <a:solidFill>
                  <a:srgbClr val="15233C"/>
                </a:solidFill>
                <a:latin typeface="Aptos"/>
              </a:rPr>
              <a:t>Accessibilité</a:t>
            </a:r>
          </a:p>
        </p:txBody>
      </p:sp>
      <p:sp>
        <p:nvSpPr>
          <p:cNvPr id="14" name="Oval 13"/>
          <p:cNvSpPr/>
          <p:nvPr/>
        </p:nvSpPr>
        <p:spPr>
          <a:xfrm>
            <a:off x="1097280" y="3520439"/>
            <a:ext cx="914400" cy="914400"/>
          </a:xfrm>
          <a:prstGeom prst="ellipse">
            <a:avLst/>
          </a:prstGeom>
          <a:solidFill>
            <a:srgbClr val="FFFFFF"/>
          </a:solidFill>
          <a:ln w="38100">
            <a:solidFill>
              <a:srgbClr val="10B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721607"/>
            <a:ext cx="914400" cy="320040"/>
          </a:xfrm>
          <a:prstGeom prst="rect">
            <a:avLst/>
          </a:prstGeom>
          <a:noFill/>
        </p:spPr>
        <p:txBody>
          <a:bodyPr wrap="none">
            <a:spAutoFit/>
          </a:bodyPr>
          <a:lstStyle/>
          <a:p>
            <a:pPr algn="ctr"/>
            <a:r>
              <a:rPr sz="1700" b="1">
                <a:solidFill>
                  <a:srgbClr val="10B959"/>
                </a:solidFill>
                <a:latin typeface="Aptos"/>
              </a:rPr>
              <a:t>100</a:t>
            </a:r>
          </a:p>
        </p:txBody>
      </p:sp>
      <p:sp>
        <p:nvSpPr>
          <p:cNvPr id="16" name="TextBox 15"/>
          <p:cNvSpPr txBox="1"/>
          <p:nvPr/>
        </p:nvSpPr>
        <p:spPr>
          <a:xfrm>
            <a:off x="685800" y="4507992"/>
            <a:ext cx="1737360" cy="365760"/>
          </a:xfrm>
          <a:prstGeom prst="rect">
            <a:avLst/>
          </a:prstGeom>
          <a:noFill/>
        </p:spPr>
        <p:txBody>
          <a:bodyPr wrap="none">
            <a:spAutoFit/>
          </a:bodyPr>
          <a:lstStyle/>
          <a:p>
            <a:pPr algn="ctr"/>
            <a:r>
              <a:rPr sz="1200">
                <a:solidFill>
                  <a:srgbClr val="15233C"/>
                </a:solidFill>
                <a:latin typeface="Aptos"/>
              </a:rPr>
              <a:t>Bonnes pratiques</a:t>
            </a:r>
          </a:p>
        </p:txBody>
      </p:sp>
      <p:sp>
        <p:nvSpPr>
          <p:cNvPr id="17" name="Oval 16"/>
          <p:cNvSpPr/>
          <p:nvPr/>
        </p:nvSpPr>
        <p:spPr>
          <a:xfrm>
            <a:off x="3749039" y="3520439"/>
            <a:ext cx="914400" cy="914400"/>
          </a:xfrm>
          <a:prstGeom prst="ellipse">
            <a:avLst/>
          </a:prstGeom>
          <a:solidFill>
            <a:srgbClr val="FFFFFF"/>
          </a:solidFill>
          <a:ln w="38100">
            <a:solidFill>
              <a:srgbClr val="10B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39" y="3721607"/>
            <a:ext cx="914400" cy="320040"/>
          </a:xfrm>
          <a:prstGeom prst="rect">
            <a:avLst/>
          </a:prstGeom>
          <a:noFill/>
        </p:spPr>
        <p:txBody>
          <a:bodyPr wrap="none">
            <a:spAutoFit/>
          </a:bodyPr>
          <a:lstStyle/>
          <a:p>
            <a:pPr algn="ctr"/>
            <a:r>
              <a:rPr sz="1700" b="1">
                <a:solidFill>
                  <a:srgbClr val="10B959"/>
                </a:solidFill>
                <a:latin typeface="Aptos"/>
              </a:rPr>
              <a:t>100</a:t>
            </a:r>
          </a:p>
        </p:txBody>
      </p:sp>
      <p:sp>
        <p:nvSpPr>
          <p:cNvPr id="19" name="TextBox 18"/>
          <p:cNvSpPr txBox="1"/>
          <p:nvPr/>
        </p:nvSpPr>
        <p:spPr>
          <a:xfrm>
            <a:off x="3337559" y="4507992"/>
            <a:ext cx="1737360" cy="365760"/>
          </a:xfrm>
          <a:prstGeom prst="rect">
            <a:avLst/>
          </a:prstGeom>
          <a:noFill/>
        </p:spPr>
        <p:txBody>
          <a:bodyPr wrap="none">
            <a:spAutoFit/>
          </a:bodyPr>
          <a:lstStyle/>
          <a:p>
            <a:pPr algn="ctr"/>
            <a:r>
              <a:rPr sz="1200">
                <a:solidFill>
                  <a:srgbClr val="15233C"/>
                </a:solidFill>
                <a:latin typeface="Aptos"/>
              </a:rPr>
              <a:t>SEO</a:t>
            </a:r>
          </a:p>
        </p:txBody>
      </p:sp>
      <p:sp>
        <p:nvSpPr>
          <p:cNvPr id="20" name="Rounded Rectangle 19"/>
          <p:cNvSpPr/>
          <p:nvPr/>
        </p:nvSpPr>
        <p:spPr>
          <a:xfrm>
            <a:off x="7269480" y="1188720"/>
            <a:ext cx="425196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34072" y="1298448"/>
            <a:ext cx="3922776" cy="274320"/>
          </a:xfrm>
          <a:prstGeom prst="rect">
            <a:avLst/>
          </a:prstGeom>
          <a:noFill/>
        </p:spPr>
        <p:txBody>
          <a:bodyPr wrap="none">
            <a:spAutoFit/>
          </a:bodyPr>
          <a:lstStyle/>
          <a:p>
            <a:r>
              <a:rPr b="1" sz="1500">
                <a:solidFill>
                  <a:srgbClr val="FFFFFF"/>
                </a:solidFill>
                <a:latin typeface="Aptos"/>
              </a:rPr>
              <a:t>Interprétation</a:t>
            </a:r>
          </a:p>
        </p:txBody>
      </p:sp>
      <p:sp>
        <p:nvSpPr>
          <p:cNvPr id="22" name="TextBox 21"/>
          <p:cNvSpPr txBox="1"/>
          <p:nvPr/>
        </p:nvSpPr>
        <p:spPr>
          <a:xfrm>
            <a:off x="7543800" y="1645920"/>
            <a:ext cx="3611880" cy="3383280"/>
          </a:xfrm>
          <a:prstGeom prst="rect">
            <a:avLst/>
          </a:prstGeom>
          <a:noFill/>
        </p:spPr>
        <p:txBody>
          <a:bodyPr wrap="square">
            <a:spAutoFit/>
          </a:bodyPr>
          <a:lstStyle/>
          <a:p>
            <a:pPr>
              <a:spcAft>
                <a:spcPts val="400"/>
              </a:spcAft>
            </a:pPr>
            <a:r>
              <a:rPr sz="1400">
                <a:solidFill>
                  <a:srgbClr val="FFFFFF"/>
                </a:solidFill>
                <a:latin typeface="Aptos"/>
              </a:rPr>
              <a:t>Page d’accueil rapide</a:t>
            </a:r>
          </a:p>
          <a:p>
            <a:pPr>
              <a:spcAft>
                <a:spcPts val="400"/>
              </a:spcAft>
            </a:pPr>
            <a:r>
              <a:rPr sz="1400">
                <a:solidFill>
                  <a:srgbClr val="FFFFFF"/>
                </a:solidFill>
                <a:latin typeface="Aptos"/>
              </a:rPr>
              <a:t>Très bon niveau d’accessibilité</a:t>
            </a:r>
          </a:p>
          <a:p>
            <a:pPr>
              <a:spcAft>
                <a:spcPts val="400"/>
              </a:spcAft>
            </a:pPr>
            <a:r>
              <a:rPr sz="1400">
                <a:solidFill>
                  <a:srgbClr val="FFFFFF"/>
                </a:solidFill>
                <a:latin typeface="Aptos"/>
              </a:rPr>
              <a:t>Bon respect des bonnes pratiques</a:t>
            </a:r>
          </a:p>
          <a:p>
            <a:pPr>
              <a:spcAft>
                <a:spcPts val="400"/>
              </a:spcAft>
            </a:pPr>
            <a:r>
              <a:rPr sz="1400">
                <a:solidFill>
                  <a:srgbClr val="FFFFFF"/>
                </a:solidFill>
                <a:latin typeface="Aptos"/>
              </a:rPr>
              <a:t>SEO propre</a:t>
            </a:r>
          </a:p>
          <a:p>
            <a:pPr>
              <a:spcAft>
                <a:spcPts val="400"/>
              </a:spcAft>
            </a:pPr>
            <a:r>
              <a:rPr sz="1400">
                <a:solidFill>
                  <a:srgbClr val="FFFFFF"/>
                </a:solidFill>
                <a:latin typeface="Aptos"/>
              </a:rPr>
              <a:t>Audit réalisé en mobile</a:t>
            </a:r>
          </a:p>
        </p:txBody>
      </p:sp>
      <p:sp>
        <p:nvSpPr>
          <p:cNvPr id="23" name="Rounded Rectangle 22"/>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24" name="Rounded Rectangle 23">
            <a:hlinkClick r:id="rId3"/>
          </p:cNvPr>
          <p:cNvSpPr/>
          <p:nvPr/>
        </p:nvSpPr>
        <p:spPr>
          <a:xfrm>
            <a:off x="594360" y="6172200"/>
            <a:ext cx="2458821"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VOIR LA PAGE TESTEE</a:t>
            </a:r>
          </a:p>
        </p:txBody>
      </p:sp>
      <p:sp>
        <p:nvSpPr>
          <p:cNvPr id="25" name="TextBox 24"/>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Fil conducteur du portfolio</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12/15</a:t>
            </a:r>
          </a:p>
        </p:txBody>
      </p:sp>
      <p:sp>
        <p:nvSpPr>
          <p:cNvPr id="6" name="Rounded Rectangle 5"/>
          <p:cNvSpPr/>
          <p:nvPr/>
        </p:nvSpPr>
        <p:spPr>
          <a:xfrm>
            <a:off x="640080" y="1188720"/>
            <a:ext cx="10972800" cy="457200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10643616" cy="274320"/>
          </a:xfrm>
          <a:prstGeom prst="rect">
            <a:avLst/>
          </a:prstGeom>
          <a:noFill/>
        </p:spPr>
        <p:txBody>
          <a:bodyPr wrap="none">
            <a:spAutoFit/>
          </a:bodyPr>
          <a:lstStyle/>
          <a:p>
            <a:r>
              <a:rPr b="1" sz="1500">
                <a:solidFill>
                  <a:srgbClr val="1769DB"/>
                </a:solidFill>
                <a:latin typeface="Aptos"/>
              </a:rPr>
              <a:t>Le fil rouge du portfolio</a:t>
            </a:r>
          </a:p>
        </p:txBody>
      </p:sp>
      <p:sp>
        <p:nvSpPr>
          <p:cNvPr id="8" name="TextBox 7"/>
          <p:cNvSpPr txBox="1"/>
          <p:nvPr/>
        </p:nvSpPr>
        <p:spPr>
          <a:xfrm>
            <a:off x="914400" y="1691640"/>
            <a:ext cx="10058400" cy="3474720"/>
          </a:xfrm>
          <a:prstGeom prst="rect">
            <a:avLst/>
          </a:prstGeom>
          <a:noFill/>
        </p:spPr>
        <p:txBody>
          <a:bodyPr wrap="square">
            <a:spAutoFit/>
          </a:bodyPr>
          <a:lstStyle/>
          <a:p>
            <a:pPr>
              <a:spcAft>
                <a:spcPts val="400"/>
              </a:spcAft>
            </a:pPr>
            <a:r>
              <a:rPr sz="1600">
                <a:solidFill>
                  <a:srgbClr val="15233C"/>
                </a:solidFill>
                <a:latin typeface="Aptos"/>
              </a:rPr>
              <a:t>Mon portfolio ne présente pas seulement du code ; il raconte mon passage du business vers l’informatique.</a:t>
            </a:r>
          </a:p>
          <a:p>
            <a:pPr>
              <a:spcAft>
                <a:spcPts val="400"/>
              </a:spcAft>
            </a:pPr>
            <a:r>
              <a:rPr sz="1600">
                <a:solidFill>
                  <a:srgbClr val="15233C"/>
                </a:solidFill>
                <a:latin typeface="Aptos"/>
              </a:rPr>
              <a:t>J’ai voulu montrer que mes projets techniques s’inscrivent dans un projet professionnel cohérent.</a:t>
            </a:r>
          </a:p>
          <a:p>
            <a:pPr>
              <a:spcAft>
                <a:spcPts val="400"/>
              </a:spcAft>
            </a:pPr>
            <a:r>
              <a:rPr sz="1600">
                <a:solidFill>
                  <a:srgbClr val="15233C"/>
                </a:solidFill>
                <a:latin typeface="Aptos"/>
              </a:rPr>
              <a:t>Mes expériences passées apportent une compréhension métier, tandis que ma formation Epitech m’apporte les compétences techniques.</a:t>
            </a:r>
          </a:p>
          <a:p>
            <a:pPr>
              <a:spcAft>
                <a:spcPts val="400"/>
              </a:spcAft>
            </a:pPr>
            <a:r>
              <a:rPr sz="1600">
                <a:solidFill>
                  <a:srgbClr val="15233C"/>
                </a:solidFill>
                <a:latin typeface="Aptos"/>
              </a:rPr>
              <a:t>À terme, je vise des postes comme chef de projet, product owner ou profil à l’interface entre business et tech.</a:t>
            </a:r>
          </a:p>
        </p:txBody>
      </p:sp>
      <p:sp>
        <p:nvSpPr>
          <p:cNvPr id="9" name="Rounded Rectangle 8"/>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0" name="Rounded Rectangle 9">
            <a:hlinkClick r:id="rId3"/>
          </p:cNvPr>
          <p:cNvSpPr/>
          <p:nvPr/>
        </p:nvSpPr>
        <p:spPr>
          <a:xfrm>
            <a:off x="594360" y="6172200"/>
            <a:ext cx="1570024"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ACCUEIL</a:t>
            </a:r>
          </a:p>
        </p:txBody>
      </p:sp>
      <p:sp>
        <p:nvSpPr>
          <p:cNvPr id="11" name="Rounded Rectangle 10">
            <a:hlinkClick r:id="rId4"/>
          </p:cNvPr>
          <p:cNvSpPr/>
          <p:nvPr/>
        </p:nvSpPr>
        <p:spPr>
          <a:xfrm>
            <a:off x="2328976" y="6172200"/>
            <a:ext cx="1866290"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EXPERIENCES</a:t>
            </a:r>
          </a:p>
        </p:txBody>
      </p:sp>
      <p:sp>
        <p:nvSpPr>
          <p:cNvPr id="12" name="TextBox 11"/>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Compétences mobilisées dans le projet</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13/15</a:t>
            </a:r>
          </a:p>
        </p:txBody>
      </p:sp>
      <p:sp>
        <p:nvSpPr>
          <p:cNvPr id="6" name="Rounded Rectangle 5"/>
          <p:cNvSpPr/>
          <p:nvPr/>
        </p:nvSpPr>
        <p:spPr>
          <a:xfrm>
            <a:off x="640080" y="1188720"/>
            <a:ext cx="347472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3145536" cy="274320"/>
          </a:xfrm>
          <a:prstGeom prst="rect">
            <a:avLst/>
          </a:prstGeom>
          <a:noFill/>
        </p:spPr>
        <p:txBody>
          <a:bodyPr wrap="none">
            <a:spAutoFit/>
          </a:bodyPr>
          <a:lstStyle/>
          <a:p>
            <a:r>
              <a:rPr b="1" sz="1500">
                <a:solidFill>
                  <a:srgbClr val="1769DB"/>
                </a:solidFill>
                <a:latin typeface="Aptos"/>
              </a:rPr>
              <a:t>Front-end</a:t>
            </a:r>
          </a:p>
        </p:txBody>
      </p:sp>
      <p:sp>
        <p:nvSpPr>
          <p:cNvPr id="8" name="TextBox 7"/>
          <p:cNvSpPr txBox="1"/>
          <p:nvPr/>
        </p:nvSpPr>
        <p:spPr>
          <a:xfrm>
            <a:off x="914400" y="1645920"/>
            <a:ext cx="2834640" cy="3383280"/>
          </a:xfrm>
          <a:prstGeom prst="rect">
            <a:avLst/>
          </a:prstGeom>
          <a:noFill/>
        </p:spPr>
        <p:txBody>
          <a:bodyPr wrap="square">
            <a:spAutoFit/>
          </a:bodyPr>
          <a:lstStyle/>
          <a:p>
            <a:pPr>
              <a:spcAft>
                <a:spcPts val="400"/>
              </a:spcAft>
            </a:pPr>
            <a:r>
              <a:rPr sz="1400">
                <a:solidFill>
                  <a:srgbClr val="15233C"/>
                </a:solidFill>
                <a:latin typeface="Aptos"/>
              </a:rPr>
              <a:t>HTML5</a:t>
            </a:r>
          </a:p>
          <a:p>
            <a:pPr>
              <a:spcAft>
                <a:spcPts val="400"/>
              </a:spcAft>
            </a:pPr>
            <a:r>
              <a:rPr sz="1400">
                <a:solidFill>
                  <a:srgbClr val="15233C"/>
                </a:solidFill>
                <a:latin typeface="Aptos"/>
              </a:rPr>
              <a:t>CSS3</a:t>
            </a:r>
          </a:p>
          <a:p>
            <a:pPr>
              <a:spcAft>
                <a:spcPts val="400"/>
              </a:spcAft>
            </a:pPr>
            <a:r>
              <a:rPr sz="1400">
                <a:solidFill>
                  <a:srgbClr val="15233C"/>
                </a:solidFill>
                <a:latin typeface="Aptos"/>
              </a:rPr>
              <a:t>Responsive design</a:t>
            </a:r>
          </a:p>
          <a:p>
            <a:pPr>
              <a:spcAft>
                <a:spcPts val="400"/>
              </a:spcAft>
            </a:pPr>
            <a:r>
              <a:rPr sz="1400">
                <a:solidFill>
                  <a:srgbClr val="15233C"/>
                </a:solidFill>
                <a:latin typeface="Aptos"/>
              </a:rPr>
              <a:t>JavaScript</a:t>
            </a:r>
          </a:p>
          <a:p>
            <a:pPr>
              <a:spcAft>
                <a:spcPts val="400"/>
              </a:spcAft>
            </a:pPr>
            <a:r>
              <a:rPr sz="1400">
                <a:solidFill>
                  <a:srgbClr val="15233C"/>
                </a:solidFill>
                <a:latin typeface="Aptos"/>
              </a:rPr>
              <a:t>UI simple et claire</a:t>
            </a:r>
          </a:p>
        </p:txBody>
      </p:sp>
      <p:sp>
        <p:nvSpPr>
          <p:cNvPr id="9" name="Rounded Rectangle 8"/>
          <p:cNvSpPr/>
          <p:nvPr/>
        </p:nvSpPr>
        <p:spPr>
          <a:xfrm>
            <a:off x="4389120" y="1188720"/>
            <a:ext cx="3474720" cy="44805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298448"/>
            <a:ext cx="3145536" cy="274320"/>
          </a:xfrm>
          <a:prstGeom prst="rect">
            <a:avLst/>
          </a:prstGeom>
          <a:noFill/>
        </p:spPr>
        <p:txBody>
          <a:bodyPr wrap="none">
            <a:spAutoFit/>
          </a:bodyPr>
          <a:lstStyle/>
          <a:p>
            <a:r>
              <a:rPr b="1" sz="1500">
                <a:solidFill>
                  <a:srgbClr val="FFFFFF"/>
                </a:solidFill>
                <a:latin typeface="Aptos"/>
              </a:rPr>
              <a:t>Méthode</a:t>
            </a:r>
          </a:p>
        </p:txBody>
      </p:sp>
      <p:sp>
        <p:nvSpPr>
          <p:cNvPr id="11" name="TextBox 10"/>
          <p:cNvSpPr txBox="1"/>
          <p:nvPr/>
        </p:nvSpPr>
        <p:spPr>
          <a:xfrm>
            <a:off x="4663440" y="1645920"/>
            <a:ext cx="2834640" cy="3383280"/>
          </a:xfrm>
          <a:prstGeom prst="rect">
            <a:avLst/>
          </a:prstGeom>
          <a:noFill/>
        </p:spPr>
        <p:txBody>
          <a:bodyPr wrap="square">
            <a:spAutoFit/>
          </a:bodyPr>
          <a:lstStyle/>
          <a:p>
            <a:pPr>
              <a:spcAft>
                <a:spcPts val="400"/>
              </a:spcAft>
            </a:pPr>
            <a:r>
              <a:rPr sz="1400">
                <a:solidFill>
                  <a:srgbClr val="FFFFFF"/>
                </a:solidFill>
                <a:latin typeface="Aptos"/>
              </a:rPr>
              <a:t>Structuration multipage</a:t>
            </a:r>
          </a:p>
          <a:p>
            <a:pPr>
              <a:spcAft>
                <a:spcPts val="400"/>
              </a:spcAft>
            </a:pPr>
            <a:r>
              <a:rPr sz="1400">
                <a:solidFill>
                  <a:srgbClr val="FFFFFF"/>
                </a:solidFill>
                <a:latin typeface="Aptos"/>
              </a:rPr>
              <a:t>Versioning Git / GitHub</a:t>
            </a:r>
          </a:p>
          <a:p>
            <a:pPr>
              <a:spcAft>
                <a:spcPts val="400"/>
              </a:spcAft>
            </a:pPr>
            <a:r>
              <a:rPr sz="1400">
                <a:solidFill>
                  <a:srgbClr val="FFFFFF"/>
                </a:solidFill>
                <a:latin typeface="Aptos"/>
              </a:rPr>
              <a:t>Déploiement GitHub Pages</a:t>
            </a:r>
          </a:p>
          <a:p>
            <a:pPr>
              <a:spcAft>
                <a:spcPts val="400"/>
              </a:spcAft>
            </a:pPr>
            <a:r>
              <a:rPr sz="1400">
                <a:solidFill>
                  <a:srgbClr val="FFFFFF"/>
                </a:solidFill>
                <a:latin typeface="Aptos"/>
              </a:rPr>
              <a:t>Tests &amp; corrections</a:t>
            </a:r>
          </a:p>
        </p:txBody>
      </p:sp>
      <p:sp>
        <p:nvSpPr>
          <p:cNvPr id="12" name="Rounded Rectangle 11"/>
          <p:cNvSpPr/>
          <p:nvPr/>
        </p:nvSpPr>
        <p:spPr>
          <a:xfrm>
            <a:off x="8138160" y="1188720"/>
            <a:ext cx="3474720" cy="448056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298448"/>
            <a:ext cx="3145536" cy="274320"/>
          </a:xfrm>
          <a:prstGeom prst="rect">
            <a:avLst/>
          </a:prstGeom>
          <a:noFill/>
        </p:spPr>
        <p:txBody>
          <a:bodyPr wrap="none">
            <a:spAutoFit/>
          </a:bodyPr>
          <a:lstStyle/>
          <a:p>
            <a:r>
              <a:rPr b="1" sz="1500">
                <a:solidFill>
                  <a:srgbClr val="1769DB"/>
                </a:solidFill>
                <a:latin typeface="Aptos"/>
              </a:rPr>
              <a:t>Soft skills</a:t>
            </a:r>
          </a:p>
        </p:txBody>
      </p:sp>
      <p:sp>
        <p:nvSpPr>
          <p:cNvPr id="14" name="TextBox 13"/>
          <p:cNvSpPr txBox="1"/>
          <p:nvPr/>
        </p:nvSpPr>
        <p:spPr>
          <a:xfrm>
            <a:off x="8412480" y="1645920"/>
            <a:ext cx="2834640" cy="3383280"/>
          </a:xfrm>
          <a:prstGeom prst="rect">
            <a:avLst/>
          </a:prstGeom>
          <a:noFill/>
        </p:spPr>
        <p:txBody>
          <a:bodyPr wrap="square">
            <a:spAutoFit/>
          </a:bodyPr>
          <a:lstStyle/>
          <a:p>
            <a:pPr>
              <a:spcAft>
                <a:spcPts val="400"/>
              </a:spcAft>
            </a:pPr>
            <a:r>
              <a:rPr sz="1400">
                <a:solidFill>
                  <a:srgbClr val="15233C"/>
                </a:solidFill>
                <a:latin typeface="Aptos"/>
              </a:rPr>
              <a:t>Organisation</a:t>
            </a:r>
          </a:p>
          <a:p>
            <a:pPr>
              <a:spcAft>
                <a:spcPts val="400"/>
              </a:spcAft>
            </a:pPr>
            <a:r>
              <a:rPr sz="1400">
                <a:solidFill>
                  <a:srgbClr val="15233C"/>
                </a:solidFill>
                <a:latin typeface="Aptos"/>
              </a:rPr>
              <a:t>Rigueur</a:t>
            </a:r>
          </a:p>
          <a:p>
            <a:pPr>
              <a:spcAft>
                <a:spcPts val="400"/>
              </a:spcAft>
            </a:pPr>
            <a:r>
              <a:rPr sz="1400">
                <a:solidFill>
                  <a:srgbClr val="15233C"/>
                </a:solidFill>
                <a:latin typeface="Aptos"/>
              </a:rPr>
              <a:t>Pragmatisme</a:t>
            </a:r>
          </a:p>
          <a:p>
            <a:pPr>
              <a:spcAft>
                <a:spcPts val="400"/>
              </a:spcAft>
            </a:pPr>
            <a:r>
              <a:rPr sz="1400">
                <a:solidFill>
                  <a:srgbClr val="15233C"/>
                </a:solidFill>
                <a:latin typeface="Aptos"/>
              </a:rPr>
              <a:t>Mise en avant d’un profil professionnel</a:t>
            </a:r>
          </a:p>
        </p:txBody>
      </p:sp>
      <p:sp>
        <p:nvSpPr>
          <p:cNvPr id="15" name="Rounded Rectangle 14"/>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6" name="Rounded Rectangle 15">
            <a:hlinkClick r:id="rId3"/>
          </p:cNvPr>
          <p:cNvSpPr/>
          <p:nvPr/>
        </p:nvSpPr>
        <p:spPr>
          <a:xfrm>
            <a:off x="594360" y="6172200"/>
            <a:ext cx="2162556"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CODE SUR GITHUB</a:t>
            </a:r>
          </a:p>
        </p:txBody>
      </p:sp>
      <p:sp>
        <p:nvSpPr>
          <p:cNvPr id="17" name="TextBox 16"/>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t>Difficultés rencontrées et solutions</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14/15</a:t>
            </a:r>
          </a:p>
        </p:txBody>
      </p:sp>
      <p:sp>
        <p:nvSpPr>
          <p:cNvPr id="6" name="Rounded Rectangle 5"/>
          <p:cNvSpPr/>
          <p:nvPr/>
        </p:nvSpPr>
        <p:spPr>
          <a:xfrm>
            <a:off x="640080" y="1188720"/>
            <a:ext cx="10972800" cy="4572000"/>
          </a:xfrm>
          <a:prstGeom prst="roundRect">
            <a:avLst/>
          </a:prstGeom>
          <a:solidFill>
            <a:srgbClr val="FFFFFF"/>
          </a:solidFill>
          <a:ln w="15875">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298448"/>
            <a:ext cx="10643616" cy="274320"/>
          </a:xfrm>
          <a:prstGeom prst="rect">
            <a:avLst/>
          </a:prstGeom>
          <a:noFill/>
        </p:spPr>
        <p:txBody>
          <a:bodyPr wrap="none">
            <a:spAutoFit/>
          </a:bodyPr>
          <a:lstStyle/>
          <a:p>
            <a:r>
              <a:t>3 défis concrets du projet</a:t>
            </a:r>
          </a:p>
        </p:txBody>
      </p:sp>
      <p:sp>
        <p:nvSpPr>
          <p:cNvPr id="8" name="TextBox 7"/>
          <p:cNvSpPr txBox="1"/>
          <p:nvPr/>
        </p:nvSpPr>
        <p:spPr>
          <a:xfrm>
            <a:off x="914400" y="1691640"/>
            <a:ext cx="10058400" cy="3474720"/>
          </a:xfrm>
          <a:prstGeom prst="rect">
            <a:avLst/>
          </a:prstGeom>
          <a:noFill/>
        </p:spPr>
        <p:txBody>
          <a:bodyPr wrap="square">
            <a:spAutoFit/>
          </a:bodyPr>
          <a:lstStyle/>
          <a:p>
            <a:r>
              <a:rPr sz="1600">
                <a:solidFill>
                  <a:srgbClr val="101D38"/>
                </a:solidFill>
              </a:rPr>
              <a:t>TESTS — Les liens, menus, langues et médias doivent fonctionner sur plusieurs écrans.</a:t>
            </a:r>
          </a:p>
          <a:p>
            <a:r>
              <a:rPr sz="1600">
                <a:solidFill>
                  <a:srgbClr val="101D38"/>
                </a:solidFill>
              </a:rPr>
              <a:t>SOLUTION — Vérifier chaque fonction et utiliser Lighthouse sur mobile.</a:t>
            </a:r>
          </a:p>
          <a:p/>
          <a:p>
            <a:r>
              <a:rPr sz="1600">
                <a:solidFill>
                  <a:srgbClr val="101D38"/>
                </a:solidFill>
              </a:rPr>
              <a:t>ORGANISATION — Plusieurs pages et fichiers à faire évoluer en parallèle.</a:t>
            </a:r>
          </a:p>
          <a:p>
            <a:r>
              <a:rPr sz="1600">
                <a:solidFill>
                  <a:srgbClr val="101D38"/>
                </a:solidFill>
              </a:rPr>
              <a:t>SOLUTION — Avancer par étapes, structurer les dossiers et versionner avec Git.</a:t>
            </a:r>
          </a:p>
          <a:p/>
          <a:p>
            <a:r>
              <a:rPr sz="1600">
                <a:solidFill>
                  <a:srgbClr val="101D38"/>
                </a:solidFill>
              </a:rPr>
              <a:t>CRÉATIVITÉ / FAISABILITÉ — Beaucoup d’idées, mais du temps et un niveau technique limités.</a:t>
            </a:r>
          </a:p>
          <a:p>
            <a:r>
              <a:rPr sz="1600">
                <a:solidFill>
                  <a:srgbClr val="101D38"/>
                </a:solidFill>
              </a:rPr>
              <a:t>SOLUTION — Prioriser, choisir des solutions simples (mailto:), améliorer ensuite.</a:t>
            </a:r>
          </a:p>
        </p:txBody>
      </p:sp>
      <p:sp>
        <p:nvSpPr>
          <p:cNvPr id="9" name="Rounded Rectangle 8"/>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0" name="Rounded Rectangle 9">
            <a:hlinkClick r:id="rId3"/>
          </p:cNvPr>
          <p:cNvSpPr/>
          <p:nvPr/>
        </p:nvSpPr>
        <p:spPr>
          <a:xfrm>
            <a:off x="594360" y="6172200"/>
            <a:ext cx="2458821"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TESTER LE PORTFOLIO</a:t>
            </a:r>
          </a:p>
        </p:txBody>
      </p:sp>
      <p:sp>
        <p:nvSpPr>
          <p:cNvPr id="11" name="TextBox 10"/>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cb4f4bc-9f12-5155-9f05-4fe7919aa056.png"/>
          <p:cNvPicPr>
            <a:picLocks noChangeAspect="1"/>
          </p:cNvPicPr>
          <p:nvPr/>
        </p:nvPicPr>
        <p:blipFill>
          <a:blip r:embed="rId2"/>
          <a:stretch>
            <a:fillRect/>
          </a:stretch>
        </p:blipFill>
        <p:spPr>
          <a:xfrm>
            <a:off x="10362895" y="182880"/>
            <a:ext cx="1417320" cy="1417320"/>
          </a:xfrm>
          <a:prstGeom prst="rect">
            <a:avLst/>
          </a:prstGeom>
        </p:spPr>
      </p:pic>
      <p:sp>
        <p:nvSpPr>
          <p:cNvPr id="3" name="Rectangle 2"/>
          <p:cNvSpPr/>
          <p:nvPr/>
        </p:nvSpPr>
        <p:spPr>
          <a:xfrm>
            <a:off x="0" y="0"/>
            <a:ext cx="12191695" cy="73152"/>
          </a:xfrm>
          <a:prstGeom prst="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8961120" cy="731520"/>
          </a:xfrm>
          <a:prstGeom prst="rect">
            <a:avLst/>
          </a:prstGeom>
          <a:noFill/>
        </p:spPr>
        <p:txBody>
          <a:bodyPr wrap="none">
            <a:spAutoFit/>
          </a:bodyPr>
          <a:lstStyle/>
          <a:p>
            <a:r>
              <a:rPr b="1" sz="2600">
                <a:solidFill>
                  <a:srgbClr val="101D38"/>
                </a:solidFill>
                <a:latin typeface="Aptos"/>
              </a:rPr>
              <a:t>Conclusion</a:t>
            </a:r>
          </a:p>
        </p:txBody>
      </p:sp>
      <p:sp>
        <p:nvSpPr>
          <p:cNvPr id="5" name="TextBox 4"/>
          <p:cNvSpPr txBox="1"/>
          <p:nvPr/>
        </p:nvSpPr>
        <p:spPr>
          <a:xfrm>
            <a:off x="11277295" y="6446520"/>
            <a:ext cx="640080" cy="228600"/>
          </a:xfrm>
          <a:prstGeom prst="rect">
            <a:avLst/>
          </a:prstGeom>
          <a:noFill/>
        </p:spPr>
        <p:txBody>
          <a:bodyPr wrap="none">
            <a:spAutoFit/>
          </a:bodyPr>
          <a:lstStyle/>
          <a:p>
            <a:pPr algn="r"/>
            <a:r>
              <a:rPr sz="1000">
                <a:solidFill>
                  <a:srgbClr val="1769DB"/>
                </a:solidFill>
                <a:latin typeface="Aptos"/>
              </a:rPr>
              <a:t>15/15</a:t>
            </a:r>
          </a:p>
        </p:txBody>
      </p:sp>
      <p:sp>
        <p:nvSpPr>
          <p:cNvPr id="6" name="Rounded Rectangle 5"/>
          <p:cNvSpPr/>
          <p:nvPr/>
        </p:nvSpPr>
        <p:spPr>
          <a:xfrm>
            <a:off x="868680" y="1417320"/>
            <a:ext cx="10424160" cy="3566160"/>
          </a:xfrm>
          <a:prstGeom prst="roundRect">
            <a:avLst/>
          </a:prstGeom>
          <a:solidFill>
            <a:srgbClr val="101D38"/>
          </a:solidFill>
          <a:ln w="1587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1527048"/>
            <a:ext cx="10094976" cy="274320"/>
          </a:xfrm>
          <a:prstGeom prst="rect">
            <a:avLst/>
          </a:prstGeom>
          <a:noFill/>
        </p:spPr>
        <p:txBody>
          <a:bodyPr wrap="none">
            <a:spAutoFit/>
          </a:bodyPr>
          <a:lstStyle/>
          <a:p>
            <a:r>
              <a:rPr b="1" sz="1500">
                <a:solidFill>
                  <a:srgbClr val="FFFFFF"/>
                </a:solidFill>
                <a:latin typeface="Aptos"/>
              </a:rPr>
              <a:t>Conclusion générale</a:t>
            </a:r>
          </a:p>
        </p:txBody>
      </p:sp>
      <p:sp>
        <p:nvSpPr>
          <p:cNvPr id="8" name="TextBox 7"/>
          <p:cNvSpPr txBox="1"/>
          <p:nvPr/>
        </p:nvSpPr>
        <p:spPr>
          <a:xfrm>
            <a:off x="1234440" y="2011680"/>
            <a:ext cx="9692640" cy="2377440"/>
          </a:xfrm>
          <a:prstGeom prst="rect">
            <a:avLst/>
          </a:prstGeom>
          <a:noFill/>
        </p:spPr>
        <p:txBody>
          <a:bodyPr wrap="square">
            <a:spAutoFit/>
          </a:bodyPr>
          <a:lstStyle/>
          <a:p>
            <a:pPr>
              <a:spcAft>
                <a:spcPts val="400"/>
              </a:spcAft>
            </a:pPr>
            <a:r>
              <a:rPr sz="1800">
                <a:solidFill>
                  <a:srgbClr val="FFFFFF"/>
                </a:solidFill>
                <a:latin typeface="Aptos"/>
              </a:rPr>
              <a:t>Ce portfolio est une vitrine de mes compétences, de mes projets et de ma progression à Epitech.</a:t>
            </a:r>
          </a:p>
          <a:p>
            <a:pPr>
              <a:spcAft>
                <a:spcPts val="400"/>
              </a:spcAft>
            </a:pPr>
            <a:r>
              <a:rPr sz="1800">
                <a:solidFill>
                  <a:srgbClr val="FFFFFF"/>
                </a:solidFill>
                <a:latin typeface="Aptos"/>
              </a:rPr>
              <a:t>Il met aussi en avant mon projet professionnel : relier l’informatique et les enjeux business.</a:t>
            </a:r>
          </a:p>
          <a:p>
            <a:pPr>
              <a:spcAft>
                <a:spcPts val="400"/>
              </a:spcAft>
            </a:pPr>
            <a:r>
              <a:rPr sz="1800">
                <a:solidFill>
                  <a:srgbClr val="FFFFFF"/>
                </a:solidFill>
                <a:latin typeface="Aptos"/>
              </a:rPr>
              <a:t>Merci pour votre attention.</a:t>
            </a:r>
          </a:p>
        </p:txBody>
      </p:sp>
      <p:sp>
        <p:nvSpPr>
          <p:cNvPr id="9" name="TextBox 8"/>
          <p:cNvSpPr txBox="1"/>
          <p:nvPr/>
        </p:nvSpPr>
        <p:spPr>
          <a:xfrm>
            <a:off x="2743200" y="5212080"/>
            <a:ext cx="6583680" cy="457200"/>
          </a:xfrm>
          <a:prstGeom prst="rect">
            <a:avLst/>
          </a:prstGeom>
          <a:noFill/>
        </p:spPr>
        <p:txBody>
          <a:bodyPr wrap="none">
            <a:spAutoFit/>
          </a:bodyPr>
          <a:lstStyle/>
          <a:p>
            <a:pPr algn="ctr"/>
            <a:r>
              <a:rPr sz="1700" b="1">
                <a:solidFill>
                  <a:srgbClr val="1769DB"/>
                </a:solidFill>
                <a:latin typeface="Aptos"/>
              </a:rPr>
              <a:t>Portfolio en ligne : mehdilrhoula.github.io</a:t>
            </a:r>
          </a:p>
        </p:txBody>
      </p:sp>
      <p:sp>
        <p:nvSpPr>
          <p:cNvPr id="10" name="Rounded Rectangle 9"/>
          <p:cNvSpPr/>
          <p:nvPr/>
        </p:nvSpPr>
        <p:spPr>
          <a:xfrm>
            <a:off x="548640" y="5806440"/>
            <a:ext cx="10972800" cy="548640"/>
          </a:xfrm>
          <a:prstGeom prst="roundRect">
            <a:avLst/>
          </a:prstGeom>
          <a:solidFill>
            <a:srgbClr val="F5F7FB"/>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101D38"/>
                </a:solidFill>
              </a:rPr>
              <a:t>DÉMONSTRATION EN DIRECT : utilise les boutons ci-dessous • discours détaillé sur la fiche imprimable.</a:t>
            </a:r>
          </a:p>
        </p:txBody>
      </p:sp>
      <p:sp>
        <p:nvSpPr>
          <p:cNvPr id="11" name="Rounded Rectangle 10">
            <a:hlinkClick r:id="rId3"/>
          </p:cNvPr>
          <p:cNvSpPr/>
          <p:nvPr/>
        </p:nvSpPr>
        <p:spPr>
          <a:xfrm>
            <a:off x="594360" y="6172200"/>
            <a:ext cx="2458821" cy="310896"/>
          </a:xfrm>
          <a:prstGeom prst="roundRect">
            <a:avLst/>
          </a:prstGeom>
          <a:solidFill>
            <a:srgbClr val="1769DB"/>
          </a:solidFill>
          <a:ln>
            <a:noFill/>
          </a:ln>
        </p:spPr>
        <p:style>
          <a:lnRef idx="1">
            <a:schemeClr val="accent1"/>
          </a:lnRef>
          <a:fillRef idx="3">
            <a:schemeClr val="accent1"/>
          </a:fillRef>
          <a:effectRef idx="2">
            <a:schemeClr val="accent1"/>
          </a:effectRef>
          <a:fontRef idx="minor">
            <a:schemeClr val="lt1"/>
          </a:fontRef>
        </p:style>
        <p:txBody>
          <a:bodyPr rtlCol="0" anchor="ctr" rIns="73152"/>
          <a:lstStyle/>
          <a:p>
            <a:pPr algn="ctr"/>
            <a:r>
              <a:rPr sz="1000" b="1">
                <a:solidFill>
                  <a:srgbClr val="FFFFFF"/>
                </a:solidFill>
              </a:rPr>
              <a:t>↗ OUVRIR LE PORTFOLIO</a:t>
            </a:r>
          </a:p>
        </p:txBody>
      </p:sp>
      <p:sp>
        <p:nvSpPr>
          <p:cNvPr id="12" name="TextBox 11"/>
          <p:cNvSpPr txBox="1"/>
          <p:nvPr/>
        </p:nvSpPr>
        <p:spPr>
          <a:xfrm>
            <a:off x="8229600" y="6473952"/>
            <a:ext cx="2331720" cy="164592"/>
          </a:xfrm>
          <a:prstGeom prst="rect">
            <a:avLst/>
          </a:prstGeom>
          <a:noFill/>
        </p:spPr>
        <p:txBody>
          <a:bodyPr wrap="none">
            <a:spAutoFit/>
          </a:bodyPr>
          <a:lstStyle/>
          <a:p>
            <a:pPr algn="r"/>
            <a:r>
              <a:rPr sz="700">
                <a:solidFill>
                  <a:srgbClr val="1769DB"/>
                </a:solidFill>
              </a:rPr>
              <a:t>LIENS BLEUS = DÉMOS CLIQUABLES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