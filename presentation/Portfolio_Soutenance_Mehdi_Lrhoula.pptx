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18f5a91b5e4d13" /><Relationship Type="http://schemas.openxmlformats.org/officeDocument/2006/relationships/extended-properties" Target="/docProps/app.xml" Id="R1d67f8609a5f4644" /><Relationship Type="http://schemas.openxmlformats.org/officeDocument/2006/relationships/officeDocument" Target="/ppt/presentation.xml" Id="R2af58fd339ca47d4" /></Relationships>
</file>

<file path=ppt/presentation.xml><?xml version="1.0" encoding="utf-8"?>
<p:presentation xmlns:p="http://schemas.openxmlformats.org/presentationml/2006/main">
  <p:sldMasterIdLst>
    <p:sldMasterId xmlns:r="http://schemas.openxmlformats.org/officeDocument/2006/relationships" id="2147483648" r:id="R0d554cfec1ce475b"/>
  </p:sldMasterIdLst>
  <p:notesMasterIdLst>
    <p:notesMasterId xmlns:r="http://schemas.openxmlformats.org/officeDocument/2006/relationships" r:id="R2b9933a93abb4e0f"/>
  </p:notesMasterIdLst>
  <p:sldIdLst>
    <p:sldId xmlns:r="http://schemas.openxmlformats.org/officeDocument/2006/relationships" id="256" r:id="R8f32754d9932450e"/>
    <p:sldId xmlns:r="http://schemas.openxmlformats.org/officeDocument/2006/relationships" id="257" r:id="Rdf47fd230c0244a1"/>
    <p:sldId xmlns:r="http://schemas.openxmlformats.org/officeDocument/2006/relationships" id="258" r:id="R2175b734b82c434e"/>
    <p:sldId xmlns:r="http://schemas.openxmlformats.org/officeDocument/2006/relationships" id="259" r:id="R7be48a2670d7497c"/>
    <p:sldId xmlns:r="http://schemas.openxmlformats.org/officeDocument/2006/relationships" id="260" r:id="Rcae77b5028464bc1"/>
    <p:sldId xmlns:r="http://schemas.openxmlformats.org/officeDocument/2006/relationships" id="261" r:id="Re3240abeeb104b54"/>
    <p:sldId xmlns:r="http://schemas.openxmlformats.org/officeDocument/2006/relationships" id="262" r:id="Re0a50d2d8db74722"/>
    <p:sldId xmlns:r="http://schemas.openxmlformats.org/officeDocument/2006/relationships" id="263" r:id="R78df91294b3646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f20b0531bc44bc" /><Relationship Type="http://schemas.openxmlformats.org/officeDocument/2006/relationships/slideMaster" Target="/ppt/slideMasters/slideMaster1.xml" Id="R0d554cfec1ce475b" /><Relationship Type="http://schemas.openxmlformats.org/officeDocument/2006/relationships/notesMaster" Target="/ppt/notesMasters/notesMaster1.xml" Id="R2b9933a93abb4e0f" /><Relationship Type="http://schemas.openxmlformats.org/officeDocument/2006/relationships/presProps" Target="/ppt/presProps.xml" Id="R25a2341c9a2e4544" /><Relationship Type="http://schemas.openxmlformats.org/officeDocument/2006/relationships/tableStyles" Target="/ppt/tableStyles.xml" Id="Rad87367ddd0444de" /><Relationship Type="http://schemas.openxmlformats.org/officeDocument/2006/relationships/slide" Target="/ppt/slides/slide1.xml" Id="R8f32754d9932450e" /><Relationship Type="http://schemas.openxmlformats.org/officeDocument/2006/relationships/slide" Target="/ppt/slides/slide2.xml" Id="Rdf47fd230c0244a1" /><Relationship Type="http://schemas.openxmlformats.org/officeDocument/2006/relationships/slide" Target="/ppt/slides/slide3.xml" Id="R2175b734b82c434e" /><Relationship Type="http://schemas.openxmlformats.org/officeDocument/2006/relationships/slide" Target="/ppt/slides/slide4.xml" Id="R7be48a2670d7497c" /><Relationship Type="http://schemas.openxmlformats.org/officeDocument/2006/relationships/slide" Target="/ppt/slides/slide5.xml" Id="Rcae77b5028464bc1" /><Relationship Type="http://schemas.openxmlformats.org/officeDocument/2006/relationships/slide" Target="/ppt/slides/slide6.xml" Id="Re3240abeeb104b54" /><Relationship Type="http://schemas.openxmlformats.org/officeDocument/2006/relationships/slide" Target="/ppt/slides/slide7.xml" Id="Re0a50d2d8db74722" /><Relationship Type="http://schemas.openxmlformats.org/officeDocument/2006/relationships/slide" Target="/ppt/slides/slide8.xml" Id="R78df91294b3646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5930143b7848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66cf94ebf345db" /><Relationship Type="http://schemas.openxmlformats.org/officeDocument/2006/relationships/notesMaster" Target="/ppt/notesMasters/notesMaster1.xml" Id="R5720660525464f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1aaf06f5a44cd5" /><Relationship Type="http://schemas.openxmlformats.org/officeDocument/2006/relationships/notesMaster" Target="/ppt/notesMasters/notesMaster1.xml" Id="R326ea1af066343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0bed5b0add4d64" /><Relationship Type="http://schemas.openxmlformats.org/officeDocument/2006/relationships/notesMaster" Target="/ppt/notesMasters/notesMaster1.xml" Id="R102cd31e5acc41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73f32d4b3c4242" /><Relationship Type="http://schemas.openxmlformats.org/officeDocument/2006/relationships/notesMaster" Target="/ppt/notesMasters/notesMaster1.xml" Id="R361b458cfc214a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e2ab58af394b82" /><Relationship Type="http://schemas.openxmlformats.org/officeDocument/2006/relationships/notesMaster" Target="/ppt/notesMasters/notesMaster1.xml" Id="R8cdef613426247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42b79bb0d944a5" /><Relationship Type="http://schemas.openxmlformats.org/officeDocument/2006/relationships/notesMaster" Target="/ppt/notesMasters/notesMaster1.xml" Id="Re88219af63c34c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fbca0ed14e463c" /><Relationship Type="http://schemas.openxmlformats.org/officeDocument/2006/relationships/notesMaster" Target="/ppt/notesMasters/notesMaster1.xml" Id="Rbf1cfa1d84404f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ba9a4ab1a64254" /><Relationship Type="http://schemas.openxmlformats.org/officeDocument/2006/relationships/notesMaster" Target="/ppt/notesMasters/notesMaster1.xml" Id="Rff1115e41f474f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00:00–00:45 — LE BESOIN</a:t>
            </a:r>
          </a:p>
          <a:p xmlns:a="http://schemas.openxmlformats.org/drawingml/2006/main">
            <a:r>
              <a:t>Mon sujet aujourd'hui est l'élaboration de mon portfolio : les décisions de conception, leur mise en œuvre et les améliorations apportées. Le besoin était de proposer un site où un visiteur peut comprendre mes projets, consulter mes compétences et mes expériences, récupérer mon CV et me contacter. Les sept axes du projet ont servi de cadre : positionnement, contenu, expérience utilisateur, qualité technique, livraison, présentation et rétrospective. Je vais montrer comment ils se traduisent dans le site, puis revenir sur les limites et les prochaines étapes.</a:t>
            </a:r>
          </a:p>
          <a:p xmlns:a="http://schemas.openxmlformats.org/drawingml/2006/main">
            <a:r>
              <a:t>Source : consignes fournies dans la conversation ; fichiers du portfolio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00:45–01:45 — LA CONCEPTION</a:t>
            </a:r>
          </a:p>
          <a:p xmlns:a="http://schemas.openxmlformats.org/drawingml/2006/main">
            <a:r>
              <a:t>J'ai réparti le contenu en cinq pages pour éviter de tout accumuler sur un seul écran. L'accueil donne les points d'entrée ; la page projets apporte les preuves ; les compétences et les expériences donnent du contexte ; le contact termine le parcours. La navigation reste identique sur chaque page et aria-current indique la page courante. Pour les projets, j'ai repris une structure commune : contexte, ce que j'ai réalisé, puis ce que j'ai appris. Le positionnement intervient dans le choix des éléments présentés : les contenus doivent expliquer mes compétences et ma progression. Cette structure facilite aussi les ajouts ultérieurs. La limite d'un site multipage manuel est que le menu est dupliqué : toute modification doit être répercutée partout.</a:t>
            </a:r>
          </a:p>
          <a:p xmlns:a="http://schemas.openxmlformats.org/drawingml/2006/main">
            <a:r>
              <a:t>Sources : index.html, projets.html, competences.html, experiences.html, contact.html.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01:45–03:00 — LES CHOIX VISUELS</a:t>
            </a:r>
          </a:p>
          <a:p xmlns:a="http://schemas.openxmlformats.org/drawingml/2006/main">
            <a:r>
              <a:t>J'ai choisi une palette limitée : le bleu marine pour les zones structurantes et le texte, un bleu vif pour attirer l'attention sur les interactions, puis du blanc et du gris clair pour les fonds. L'objectif est de garder une continuité entre les pages. Arial est une police courante qui évite de charger une police externe. Pour l'adaptation aux écrans, j'utilise Flexbox et des media queries. Sous 768 pixels, l'accueil passe d'une disposition en ligne à une disposition en colonne ; le menu peut revenir à la ligne et les espacements diminuent. Les images conservent leurs proportions et restent contraintes par leur conteneur. Le code affiché est un extrait simplifié du CSS réel. Ces règles ne remplacent pas une vérification sur différents appareils. Les contrastes et la lisibilité doivent aussi être contrôlés, notamment pour le bleu vif et les états de focus.</a:t>
            </a:r>
          </a:p>
          <a:p xmlns:a="http://schemas.openxmlformats.org/drawingml/2006/main">
            <a:r>
              <a:t>Source : css/style.css, règles body, header, .hero, nav et @media.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03:00–04:30 — L'ARCHITECTURE TECHNIQUE</a:t>
            </a:r>
          </a:p>
          <a:p xmlns:a="http://schemas.openxmlformats.org/drawingml/2006/main">
            <a:r>
              <a:t>Le portfolio utilise HTML, CSS et JavaScript sans framework. Le HTML porte le contenu et la structure avec header, nav, main, section ou article. La feuille CSS partagée donne la cohérence visuelle. Les scripts JavaScript sont séparés selon leur fonction : la langue et le carrousel. Les captures, la vidéo et le CV sont rangés dans des dossiers dédiés. Pour un site vitrine de cette taille, une architecture statique permet de comprendre le fonctionnement et de publier sans serveur applicatif. Le navigateur reçoit directement les fichiers et exécute les interactions. Les scripts chargés avec defer évitent de bloquer l'analyse initiale du HTML. Ce choix a aussi des limites : duplication du menu entre les pages, traductions à maintenir et absence de traitement des messages côté serveur. Je ne confonds pas les technologies de PYJOBS, qui utilise React et Django, avec celles du portfolio qui le présente.</a:t>
            </a:r>
          </a:p>
          <a:p xmlns:a="http://schemas.openxmlformats.org/drawingml/2006/main">
            <a:r>
              <a:t>Sources : structure des fichiers suivis par Git ; balises head des pages ; js/lang.js et js/carousel.js.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04:30–06:00 — LES FONCTIONNALITÉS</a:t>
            </a:r>
          </a:p>
          <a:p xmlns:a="http://schemas.openxmlformats.org/drawingml/2006/main">
            <a:r>
              <a:t>Les médias permettent de voir les réalisations sans quitter immédiatement le portfolio. Pour PYJOBS, trois figures contiennent les captures. Un index détermine laquelle est visible ; les autres portent l'attribut hidden. Les boutons changent cet index et un calcul modulo permet de revenir au début ou à la fin. Le compteur indique la position et aria-live permet d'annoncer son changement. Pour Hangman, j'ai choisi une vidéo MP4 avec les contrôles natifs du navigateur et preload metadata. Le CV utilise un lien avec l'attribut download. Le bilingue repose sur des clés data-i18n et un dictionnaire JavaScript. Un clic remplace les textes et les métadonnées prévues, met à jour la langue du document et mémorise le choix dans localStorage. Ces fonctions sont simples à suivre, mais les nouveaux contenus doivent être ajoutés dans les deux langues et les libellés d'accessibilité doivent rester cohérents.</a:t>
            </a:r>
          </a:p>
          <a:p xmlns:a="http://schemas.openxmlformats.org/drawingml/2006/main">
            <a:r>
              <a:t>Sources : projets.html, index.html, js/carousel.js, js/lang.js. Image : images/projets/pyjobs-accueil.png fournie par le projet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06:00–07:00 — LA QUALITÉ</a:t>
            </a:r>
          </a:p>
          <a:p xmlns:a="http://schemas.openxmlformats.org/drawingml/2006/main">
            <a:r>
              <a:t>J'ai ajouté des textes alternatifs descriptifs aux images et des labels aux champs du formulaire. Les pages ont une description, un titre et une langue ; le changement FR/EN actualise la langue du document. Plusieurs interactions ont un focus visible et le carrousel expose un compteur annoncé. Je distingue cependant ce qui est écrit dans le code de ce qui a été réellement testé. Je ne présente donc aucun score Lighthouse ni certification d'accessibilité. Les prochaines vérifications concernent le parcours intégral au clavier, les contrastes, l'affichage mobile et le poids des médias. Le formulaire est une limite concrète : son script empêche la soumission, mais n'envoie pas le message. Le lien e-mail direct reste disponible ; le traitement du formulaire reste à réaliser.</a:t>
            </a:r>
          </a:p>
          <a:p xmlns:a="http://schemas.openxmlformats.org/drawingml/2006/main">
            <a:r>
              <a:t>Sources : fichiers HTML ; css/style.css ; js/lang.js ; js/contact.js. Aucun audit Lighthouse complet n'est documenté dans les éléments disponibles.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07:00–08:15 — LA LIVRAISON</a:t>
            </a:r>
          </a:p>
          <a:p xmlns:a="http://schemas.openxmlformats.org/drawingml/2006/main">
            <a:r>
              <a:t>Git conserve les étapes de développement et permet de comprendre les évolutions. L'historique contient notamment la structure du site, les traductions, la vidéo puis les captures et le carrousel PYJOBS. Je ne prétends pas que ces commits récents démontrent à eux seuls un travail régulier sur toute l'année. Le fichier gitignore exclut les secrets, les environnements locaux, les fichiers temporaires et le PDF de consignes. Le dépôt scolaire est conservé ; un dépôt personnel sert à publier le portfolio à une adresse plus claire. GitHub Pages est configuré sur master à la racine. La publication se déclenche après les mises à jour de cette branche. Un problème rencontré concernait la casse : le dossier était Videos alors que le HTML utilisait videos. Le chemin pouvait fonctionner localement sous Windows mais échouer sur l'hébergement. Enfin, les deux dépôts doivent recevoir les mises à jour pour éviter un décalage.</a:t>
            </a:r>
          </a:p>
          <a:p xmlns:a="http://schemas.openxmlformats.org/drawingml/2006/main">
            <a:r>
              <a:t>Sources : historique Git local, .gitignore, projets.html ; publication personnelle et réglage Pages confirmés par l'utilisateur dans la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08:15–09:15 — LA RÉTROSPECTIVE</a:t>
            </a:r>
          </a:p>
          <a:p xmlns:a="http://schemas.openxmlformats.org/drawingml/2006/main">
            <a:r>
              <a:t>Le premier follow-up signalait notamment l'absence de publication, le besoin d'un téléchargement direct du CV et le manque de médias. Le portfolio a ensuite évolué avec le bilingue, la vidéo du Pendu, les captures PYJOBS et une adresse personnelle publique. Ce travail m'a fait progresser dans l'organisation des fichiers, la manipulation du DOM et le déploiement. Les difficultés les plus utiles à analyser sont le décalage entre local et distant et les erreurs de chemins qui apparaissent une fois le site publié. Mon expérience de coordination et d'analyse des besoins constitue un point d'appui pour organiser les contenus ; le portfolio m'amène à la compléter par des vérifications techniques. Je veux maintenant rendre le formulaire fonctionnel, effectuer un audit mesuré et illustrer les autres projets. Le bilan est celui d'un site publié et évolutif, avec des limites identifiées et des priorités concrètes.</a:t>
            </a:r>
          </a:p>
          <a:p xmlns:a="http://schemas.openxmlformats.org/drawingml/2006/main">
            <a:r>
              <a:t>Marge : 45 secondes pour les transitions.</a:t>
            </a:r>
          </a:p>
          <a:p xmlns:a="http://schemas.openxmlformats.org/drawingml/2006/main">
            <a:r>
              <a:t>Sources : compte rendu du premier follow-up fourni dans la conversation, code local et modifications documentées.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d647435bf6407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3390999dcda49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c22d65cc38490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5d678816334c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c12dc7b202c49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4374329defc4c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666C69-B248-4687-ABF1-8BC7B1F668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276107D-D37A-4290-BF20-A6825D0B65F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B65F33-2577-4600-AFC9-11678F54F3D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49D395-7C19-4AFF-B70F-A35BAD35A6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96F377B-F862-482C-91CD-BC8AB418776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C83EB89-5338-4013-840B-1C1690B1AC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564616-128D-4A9B-B736-0225C9BE391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32AAA60-8DFE-432C-BA64-2D3ACE25168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3A918A-1ED8-41E3-BFC5-5ADB583EE8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7E9297-0AD9-4300-8AFD-77DB3B1751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ffe75f75664300" /><Relationship Type="http://schemas.openxmlformats.org/officeDocument/2006/relationships/slideLayout" Target="/ppt/slideLayouts/slideLayout1.xml" Id="R171f9128c27643db" /><Relationship Type="http://schemas.openxmlformats.org/officeDocument/2006/relationships/slideLayout" Target="/ppt/slideLayouts/slideLayout2.xml" Id="Rcb177c74340640f3" /><Relationship Type="http://schemas.openxmlformats.org/officeDocument/2006/relationships/slideLayout" Target="/ppt/slideLayouts/slideLayout3.xml" Id="R8376581ee4f94a10" /><Relationship Type="http://schemas.openxmlformats.org/officeDocument/2006/relationships/slideLayout" Target="/ppt/slideLayouts/slideLayout4.xml" Id="Rbf28c51764f84e3d" /><Relationship Type="http://schemas.openxmlformats.org/officeDocument/2006/relationships/slideLayout" Target="/ppt/slideLayouts/slideLayout5.xml" Id="R2578af11ebba46fb" /><Relationship Type="http://schemas.openxmlformats.org/officeDocument/2006/relationships/slideLayout" Target="/ppt/slideLayouts/slideLayout6.xml" Id="Rb8bfd4ee724246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1f9128c27643db"/>
    <p:sldLayoutId xmlns:r="http://schemas.openxmlformats.org/officeDocument/2006/relationships" id="2147483650" r:id="Rcb177c74340640f3"/>
    <p:sldLayoutId xmlns:r="http://schemas.openxmlformats.org/officeDocument/2006/relationships" id="2147483651" r:id="R8376581ee4f94a10"/>
    <p:sldLayoutId xmlns:r="http://schemas.openxmlformats.org/officeDocument/2006/relationships" id="2147483652" r:id="Rbf28c51764f84e3d"/>
    <p:sldLayoutId xmlns:r="http://schemas.openxmlformats.org/officeDocument/2006/relationships" id="2147483653" r:id="R2578af11ebba46fb"/>
    <p:sldLayoutId xmlns:r="http://schemas.openxmlformats.org/officeDocument/2006/relationships" id="2147483654" r:id="Rb8bfd4ee724246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c5840f95584a61" /><Relationship Type="http://schemas.openxmlformats.org/officeDocument/2006/relationships/notesSlide" Target="/ppt/notesSlides/notesSlide1.xml" Id="Ra2ff2516cf1940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f04de7fd1dc4aee" /><Relationship Type="http://schemas.openxmlformats.org/officeDocument/2006/relationships/notesSlide" Target="/ppt/notesSlides/notesSlide2.xml" Id="Rf1bc069c09284a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48640d95234630" /><Relationship Type="http://schemas.openxmlformats.org/officeDocument/2006/relationships/notesSlide" Target="/ppt/notesSlides/notesSlide3.xml" Id="R3fae8381725f48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1703bc1167d4e9e" /><Relationship Type="http://schemas.openxmlformats.org/officeDocument/2006/relationships/notesSlide" Target="/ppt/notesSlides/notesSlide4.xml" Id="Ree62e8e5cc9545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edf8f6b28346c2" /><Relationship Type="http://schemas.openxmlformats.org/officeDocument/2006/relationships/image" Target="/ppt/media/image.png" Id="R4d55e8377a72443a" /><Relationship Type="http://schemas.openxmlformats.org/officeDocument/2006/relationships/notesSlide" Target="/ppt/notesSlides/notesSlide5.xml" Id="Rd74ecc1a5c654a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b6b8572fb6e45c8" /><Relationship Type="http://schemas.openxmlformats.org/officeDocument/2006/relationships/notesSlide" Target="/ppt/notesSlides/notesSlide6.xml" Id="R1c07f71660234e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a3f22d3defa492d" /><Relationship Type="http://schemas.openxmlformats.org/officeDocument/2006/relationships/notesSlide" Target="/ppt/notesSlides/notesSlide7.xml" Id="R0cb9196112d64c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ea9feaedefd4f63" /><Relationship Type="http://schemas.openxmlformats.org/officeDocument/2006/relationships/notesSlide" Target="/ppt/notesSlides/notesSlide8.xml" Id="Rdc9efc6e38f841dd" /></Relationships>
</file>

<file path=ppt/slides/slide1.xml><?xml version="1.0" encoding="utf-8"?>
<p:sld xmlns:p="http://schemas.openxmlformats.org/presentationml/2006/main">
  <p:cSld>
    <p:bg>
      <p:bgPr>
        <a:solidFill xmlns:a="http://schemas.openxmlformats.org/drawingml/2006/main">
          <a:srgbClr val="05103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9E0303-19FA-44F8-8263-0435D605B0F6}"/>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Conception et réalisation</a:t>
            </a:r>
          </a:p>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de mon portfolio</a:t>
            </a:r>
          </a:p>
        </p:txBody>
      </p:sp>
      <p:sp>
        <p:nvSpPr>
          <p:cNvPr id="2" name="">
            <a:extLst xmlns:a="http://schemas.openxmlformats.org/drawingml/2006/main">
              <a:ext uri="{FF2B5EF4-FFF2-40B4-BE49-F238E27FC236}">
                <a16:creationId xmlns:a16="http://schemas.microsoft.com/office/drawing/2014/main" id="{C4B01CB7-7CE5-4DEC-98B8-C374C4C54DBF}"/>
              </a:ext>
            </a:extLst>
          </p:cNvPr>
          <p:cNvSpPr>
            <a:spLocks xmlns:a="http://schemas.openxmlformats.org/drawingml/2006/main" noGrp="1"/>
          </p:cNvSpPr>
          <p:nvPr/>
        </p:nvSpPr>
        <p:spPr>
          <a:xfrm xmlns:a="http://schemas.openxmlformats.org/drawingml/2006/main">
            <a:off x="10382250" y="6334125"/>
            <a:ext cx="1123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8C6DD"/>
                </a:solidFill>
                <a:latin typeface="Arial"/>
                <a:ea typeface="Arial"/>
                <a:cs typeface="Arial"/>
              </a:defRPr>
            </a:defPPr>
          </a:lstStyle>
          <a:p xmlns:a="http://schemas.openxmlformats.org/drawingml/2006/main">
            <a:pPr>
              <a:defRPr sz="1275" b="0">
                <a:solidFill>
                  <a:srgbClr val="B8C6DD"/>
                </a:solidFill>
                <a:latin typeface="Arial"/>
                <a:ea typeface="Arial"/>
                <a:cs typeface="Arial"/>
              </a:defRPr>
            </a:pPr>
            <a:r>
              <a:rPr sz="1275" b="0">
                <a:solidFill>
                  <a:srgbClr val="B8C6DD"/>
                </a:solidFill>
                <a:latin typeface="Arial"/>
                <a:ea typeface="Arial"/>
                <a:cs typeface="Arial"/>
              </a:rPr>
              <a:t>01 / 08</a:t>
            </a:r>
          </a:p>
        </p:txBody>
      </p:sp>
      <p:sp>
        <p:nvSpPr>
          <p:cNvPr id="3" name="">
            <a:extLst xmlns:a="http://schemas.openxmlformats.org/drawingml/2006/main">
              <a:ext uri="{FF2B5EF4-FFF2-40B4-BE49-F238E27FC236}">
                <a16:creationId xmlns:a16="http://schemas.microsoft.com/office/drawing/2014/main" id="{1E831F39-03C0-4336-9FA2-BF2F35AB9C11}"/>
              </a:ext>
            </a:extLst>
          </p:cNvPr>
          <p:cNvSpPr>
            <a:spLocks xmlns:a="http://schemas.openxmlformats.org/drawingml/2006/main" noGrp="1"/>
          </p:cNvSpPr>
          <p:nvPr/>
        </p:nvSpPr>
        <p:spPr>
          <a:xfrm xmlns:a="http://schemas.openxmlformats.org/drawingml/2006/main">
            <a:off x="685800" y="24193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Un site statique pour rendre mes projets</a:t>
            </a:r>
          </a:p>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consultables, compréhensibles et accessibles</a:t>
            </a:r>
          </a:p>
        </p:txBody>
      </p:sp>
      <p:sp>
        <p:nvSpPr>
          <p:cNvPr id="4" name="">
            <a:extLst xmlns:a="http://schemas.openxmlformats.org/drawingml/2006/main">
              <a:ext uri="{FF2B5EF4-FFF2-40B4-BE49-F238E27FC236}">
                <a16:creationId xmlns:a16="http://schemas.microsoft.com/office/drawing/2014/main" id="{5460F7FC-8FA9-4930-BDD2-44F79CC0B188}"/>
              </a:ext>
            </a:extLst>
          </p:cNvPr>
          <p:cNvSpPr>
            <a:spLocks xmlns:a="http://schemas.openxmlformats.org/drawingml/2006/main" noGrp="1"/>
          </p:cNvSpPr>
          <p:nvPr/>
        </p:nvSpPr>
        <p:spPr>
          <a:xfrm xmlns:a="http://schemas.openxmlformats.org/drawingml/2006/main">
            <a:off x="685800" y="41052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6FBEFF"/>
                </a:solidFill>
                <a:latin typeface="Arial"/>
                <a:ea typeface="Arial"/>
                <a:cs typeface="Arial"/>
              </a:defRPr>
            </a:defPPr>
          </a:lstStyle>
          <a:p xmlns:a="http://schemas.openxmlformats.org/drawingml/2006/main">
            <a:pPr>
              <a:defRPr sz="2175" b="1">
                <a:solidFill>
                  <a:srgbClr val="6FBEFF"/>
                </a:solidFill>
                <a:latin typeface="Arial"/>
                <a:ea typeface="Arial"/>
                <a:cs typeface="Arial"/>
              </a:defRPr>
            </a:pPr>
            <a:r>
              <a:rPr sz="2175" b="1">
                <a:solidFill>
                  <a:srgbClr val="6FBEFF"/>
                </a:solidFill>
                <a:latin typeface="Arial"/>
                <a:ea typeface="Arial"/>
                <a:cs typeface="Arial"/>
              </a:rPr>
              <a:t>HTML · CSS · JavaScript · GitHub Pages</a:t>
            </a:r>
          </a:p>
        </p:txBody>
      </p:sp>
      <p:sp>
        <p:nvSpPr>
          <p:cNvPr id="5" name="">
            <a:extLst xmlns:a="http://schemas.openxmlformats.org/drawingml/2006/main">
              <a:ext uri="{FF2B5EF4-FFF2-40B4-BE49-F238E27FC236}">
                <a16:creationId xmlns:a16="http://schemas.microsoft.com/office/drawing/2014/main" id="{7F593FC8-0990-4447-9C25-899C799ED8CA}"/>
              </a:ext>
            </a:extLst>
          </p:cNvPr>
          <p:cNvSpPr>
            <a:spLocks xmlns:a="http://schemas.openxmlformats.org/drawingml/2006/main" noGrp="1"/>
          </p:cNvSpPr>
          <p:nvPr/>
        </p:nvSpPr>
        <p:spPr>
          <a:xfrm xmlns:a="http://schemas.openxmlformats.org/drawingml/2006/main">
            <a:off x="685800" y="5362575"/>
            <a:ext cx="904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Mehdi Lrhoula  •  Epitech</a:t>
            </a:r>
          </a:p>
        </p:txBody>
      </p:sp>
      <p:sp>
        <p:nvSpPr>
          <p:cNvPr id="6" name="">
            <a:extLst xmlns:a="http://schemas.openxmlformats.org/drawingml/2006/main">
              <a:ext uri="{FF2B5EF4-FFF2-40B4-BE49-F238E27FC236}">
                <a16:creationId xmlns:a16="http://schemas.microsoft.com/office/drawing/2014/main" id="{2E4165A2-A8B8-4826-ADD7-99832B0D9861}"/>
              </a:ext>
            </a:extLst>
          </p:cNvPr>
          <p:cNvSpPr>
            <a:spLocks xmlns:a="http://schemas.openxmlformats.org/drawingml/2006/main" noGrp="1"/>
          </p:cNvSpPr>
          <p:nvPr/>
        </p:nvSpPr>
        <p:spPr>
          <a:xfrm xmlns:a="http://schemas.openxmlformats.org/drawingml/2006/main">
            <a:off x="685800" y="5857875"/>
            <a:ext cx="904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6FBEFF"/>
                </a:solidFill>
                <a:latin typeface="Arial"/>
                <a:ea typeface="Arial"/>
                <a:cs typeface="Arial"/>
              </a:defRPr>
            </a:defPPr>
          </a:lstStyle>
          <a:p xmlns:a="http://schemas.openxmlformats.org/drawingml/2006/main">
            <a:pPr>
              <a:defRPr sz="1875" b="0">
                <a:solidFill>
                  <a:srgbClr val="6FBEFF"/>
                </a:solidFill>
                <a:latin typeface="Arial"/>
                <a:ea typeface="Arial"/>
                <a:cs typeface="Arial"/>
              </a:defRPr>
            </a:pPr>
            <a:r>
              <a:rPr sz="1875" b="0">
                <a:solidFill>
                  <a:srgbClr val="6FBEFF"/>
                </a:solidFill>
                <a:latin typeface="Arial"/>
                <a:ea typeface="Arial"/>
                <a:cs typeface="Arial"/>
              </a:rPr>
              <a:t>mehdilrhoula.github.io</a:t>
            </a:r>
          </a:p>
        </p:txBody>
      </p:sp>
    </p:spTree>
    <p:extLst>
      <p:ext uri="{BB962C8B-B14F-4D97-AF65-F5344CB8AC3E}">
        <p14:creationId xmlns:p14="http://schemas.microsoft.com/office/powerpoint/2010/main" val="829861314"/>
      </p:ext>
    </p:extLst>
  </p:cSld>
</p:sld>
</file>

<file path=ppt/slides/slide2.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DCF9F1B-A376-48CC-95F9-DD847524C7A3}"/>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051039"/>
                </a:solidFill>
                <a:latin typeface="Arial"/>
                <a:ea typeface="Arial"/>
                <a:cs typeface="Arial"/>
              </a:defRPr>
            </a:defPPr>
          </a:lstStyle>
          <a:p xmlns:a="http://schemas.openxmlformats.org/drawingml/2006/main">
            <a:pPr>
              <a:defRPr sz="3300" b="1">
                <a:solidFill>
                  <a:srgbClr val="051039"/>
                </a:solidFill>
                <a:latin typeface="Arial"/>
                <a:ea typeface="Arial"/>
                <a:cs typeface="Arial"/>
              </a:defRPr>
            </a:pPr>
            <a:r>
              <a:rPr sz="3300" b="1">
                <a:solidFill>
                  <a:srgbClr val="051039"/>
                </a:solidFill>
                <a:latin typeface="Arial"/>
                <a:ea typeface="Arial"/>
                <a:cs typeface="Arial"/>
              </a:rPr>
              <a:t>Organiser le contenu et la navigation</a:t>
            </a:r>
          </a:p>
        </p:txBody>
      </p:sp>
      <p:sp>
        <p:nvSpPr>
          <p:cNvPr id="2" name="">
            <a:extLst xmlns:a="http://schemas.openxmlformats.org/drawingml/2006/main">
              <a:ext uri="{FF2B5EF4-FFF2-40B4-BE49-F238E27FC236}">
                <a16:creationId xmlns:a16="http://schemas.microsoft.com/office/drawing/2014/main" id="{50D81E87-5F3F-419E-8CC6-3101C0440754}"/>
              </a:ext>
            </a:extLst>
          </p:cNvPr>
          <p:cNvSpPr>
            <a:spLocks xmlns:a="http://schemas.openxmlformats.org/drawingml/2006/main" noGrp="1"/>
          </p:cNvSpPr>
          <p:nvPr/>
        </p:nvSpPr>
        <p:spPr>
          <a:xfrm xmlns:a="http://schemas.openxmlformats.org/drawingml/2006/main">
            <a:off x="10382250" y="6334125"/>
            <a:ext cx="1123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40506B"/>
                </a:solidFill>
                <a:latin typeface="Arial"/>
                <a:ea typeface="Arial"/>
                <a:cs typeface="Arial"/>
              </a:defRPr>
            </a:defPPr>
          </a:lstStyle>
          <a:p xmlns:a="http://schemas.openxmlformats.org/drawingml/2006/main">
            <a:pPr>
              <a:defRPr sz="1275" b="0">
                <a:solidFill>
                  <a:srgbClr val="40506B"/>
                </a:solidFill>
                <a:latin typeface="Arial"/>
                <a:ea typeface="Arial"/>
                <a:cs typeface="Arial"/>
              </a:defRPr>
            </a:pPr>
            <a:r>
              <a:rPr sz="1275" b="0">
                <a:solidFill>
                  <a:srgbClr val="40506B"/>
                </a:solidFill>
                <a:latin typeface="Arial"/>
                <a:ea typeface="Arial"/>
                <a:cs typeface="Arial"/>
              </a:rPr>
              <a:t>02 / 08</a:t>
            </a:r>
          </a:p>
        </p:txBody>
      </p:sp>
      <p:sp>
        <p:nvSpPr>
          <p:cNvPr id="3" name="">
            <a:extLst xmlns:a="http://schemas.openxmlformats.org/drawingml/2006/main">
              <a:ext uri="{FF2B5EF4-FFF2-40B4-BE49-F238E27FC236}">
                <a16:creationId xmlns:a16="http://schemas.microsoft.com/office/drawing/2014/main" id="{A3E01CF4-8CC4-4D4B-A4B1-E5EA4A25D15C}"/>
              </a:ext>
            </a:extLst>
          </p:cNvPr>
          <p:cNvSpPr>
            <a:spLocks xmlns:a="http://schemas.openxmlformats.org/drawingml/2006/main" noGrp="1"/>
          </p:cNvSpPr>
          <p:nvPr/>
        </p:nvSpPr>
        <p:spPr>
          <a:xfrm xmlns:a="http://schemas.openxmlformats.org/drawingml/2006/main">
            <a:off x="685800" y="1847850"/>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008CFF"/>
                </a:solidFill>
                <a:latin typeface="Arial"/>
                <a:ea typeface="Arial"/>
                <a:cs typeface="Arial"/>
              </a:defRPr>
            </a:defPPr>
          </a:lstStyle>
          <a:p xmlns:a="http://schemas.openxmlformats.org/drawingml/2006/main">
            <a:pPr>
              <a:defRPr sz="2175" b="1">
                <a:solidFill>
                  <a:srgbClr val="008CFF"/>
                </a:solidFill>
                <a:latin typeface="Arial"/>
                <a:ea typeface="Arial"/>
                <a:cs typeface="Arial"/>
              </a:defRPr>
            </a:pPr>
            <a:r>
              <a:rPr sz="2175" b="1">
                <a:solidFill>
                  <a:srgbClr val="008CFF"/>
                </a:solidFill>
                <a:latin typeface="Arial"/>
                <a:ea typeface="Arial"/>
                <a:cs typeface="Arial"/>
              </a:rPr>
              <a:t>Accueil</a:t>
            </a:r>
          </a:p>
        </p:txBody>
      </p:sp>
      <p:sp>
        <p:nvSpPr>
          <p:cNvPr id="4" name="">
            <a:extLst xmlns:a="http://schemas.openxmlformats.org/drawingml/2006/main">
              <a:ext uri="{FF2B5EF4-FFF2-40B4-BE49-F238E27FC236}">
                <a16:creationId xmlns:a16="http://schemas.microsoft.com/office/drawing/2014/main" id="{510E17A1-3C9B-4775-AE1A-ED561DD54BE7}"/>
              </a:ext>
            </a:extLst>
          </p:cNvPr>
          <p:cNvSpPr>
            <a:spLocks xmlns:a="http://schemas.openxmlformats.org/drawingml/2006/main" noGrp="1"/>
          </p:cNvSpPr>
          <p:nvPr/>
        </p:nvSpPr>
        <p:spPr>
          <a:xfrm xmlns:a="http://schemas.openxmlformats.org/drawingml/2006/main">
            <a:off x="3714750" y="1847850"/>
            <a:ext cx="7667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051039"/>
                </a:solidFill>
                <a:latin typeface="Arial"/>
                <a:ea typeface="Arial"/>
                <a:cs typeface="Arial"/>
              </a:defRPr>
            </a:defPPr>
          </a:lstStyle>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Comprendre le profil et accéder au CV</a:t>
            </a:r>
          </a:p>
        </p:txBody>
      </p:sp>
      <p:sp>
        <p:nvSpPr>
          <p:cNvPr id="5" name="">
            <a:extLst xmlns:a="http://schemas.openxmlformats.org/drawingml/2006/main">
              <a:ext uri="{FF2B5EF4-FFF2-40B4-BE49-F238E27FC236}">
                <a16:creationId xmlns:a16="http://schemas.microsoft.com/office/drawing/2014/main" id="{60C02DAF-309F-4EFF-A344-FC95E1A3FF8E}"/>
              </a:ext>
            </a:extLst>
          </p:cNvPr>
          <p:cNvSpPr>
            <a:spLocks xmlns:a="http://schemas.openxmlformats.org/drawingml/2006/main" noGrp="1"/>
          </p:cNvSpPr>
          <p:nvPr/>
        </p:nvSpPr>
        <p:spPr>
          <a:xfrm xmlns:a="http://schemas.openxmlformats.org/drawingml/2006/main">
            <a:off x="685800" y="2581275"/>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008CFF"/>
                </a:solidFill>
                <a:latin typeface="Arial"/>
                <a:ea typeface="Arial"/>
                <a:cs typeface="Arial"/>
              </a:defRPr>
            </a:defPPr>
          </a:lstStyle>
          <a:p xmlns:a="http://schemas.openxmlformats.org/drawingml/2006/main">
            <a:pPr>
              <a:defRPr sz="2175" b="1">
                <a:solidFill>
                  <a:srgbClr val="008CFF"/>
                </a:solidFill>
                <a:latin typeface="Arial"/>
                <a:ea typeface="Arial"/>
                <a:cs typeface="Arial"/>
              </a:defRPr>
            </a:pPr>
            <a:r>
              <a:rPr sz="2175" b="1">
                <a:solidFill>
                  <a:srgbClr val="008CFF"/>
                </a:solidFill>
                <a:latin typeface="Arial"/>
                <a:ea typeface="Arial"/>
                <a:cs typeface="Arial"/>
              </a:rPr>
              <a:t>Projets</a:t>
            </a:r>
          </a:p>
        </p:txBody>
      </p:sp>
      <p:sp>
        <p:nvSpPr>
          <p:cNvPr id="6" name="">
            <a:extLst xmlns:a="http://schemas.openxmlformats.org/drawingml/2006/main">
              <a:ext uri="{FF2B5EF4-FFF2-40B4-BE49-F238E27FC236}">
                <a16:creationId xmlns:a16="http://schemas.microsoft.com/office/drawing/2014/main" id="{7CDBA3A5-68AC-4FA2-918C-D378D97B8266}"/>
              </a:ext>
            </a:extLst>
          </p:cNvPr>
          <p:cNvSpPr>
            <a:spLocks xmlns:a="http://schemas.openxmlformats.org/drawingml/2006/main" noGrp="1"/>
          </p:cNvSpPr>
          <p:nvPr/>
        </p:nvSpPr>
        <p:spPr>
          <a:xfrm xmlns:a="http://schemas.openxmlformats.org/drawingml/2006/main">
            <a:off x="3714750" y="2581275"/>
            <a:ext cx="7667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051039"/>
                </a:solidFill>
                <a:latin typeface="Arial"/>
                <a:ea typeface="Arial"/>
                <a:cs typeface="Arial"/>
              </a:defRPr>
            </a:defPPr>
          </a:lstStyle>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Voir les réalisations et leur contexte</a:t>
            </a:r>
          </a:p>
        </p:txBody>
      </p:sp>
      <p:sp>
        <p:nvSpPr>
          <p:cNvPr id="7" name="">
            <a:extLst xmlns:a="http://schemas.openxmlformats.org/drawingml/2006/main">
              <a:ext uri="{FF2B5EF4-FFF2-40B4-BE49-F238E27FC236}">
                <a16:creationId xmlns:a16="http://schemas.microsoft.com/office/drawing/2014/main" id="{CA2C4B7B-7AB3-4CBB-8B6D-27BDB8420C01}"/>
              </a:ext>
            </a:extLst>
          </p:cNvPr>
          <p:cNvSpPr>
            <a:spLocks xmlns:a="http://schemas.openxmlformats.org/drawingml/2006/main" noGrp="1"/>
          </p:cNvSpPr>
          <p:nvPr/>
        </p:nvSpPr>
        <p:spPr>
          <a:xfrm xmlns:a="http://schemas.openxmlformats.org/drawingml/2006/main">
            <a:off x="685800" y="3314700"/>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008CFF"/>
                </a:solidFill>
                <a:latin typeface="Arial"/>
                <a:ea typeface="Arial"/>
                <a:cs typeface="Arial"/>
              </a:defRPr>
            </a:defPPr>
          </a:lstStyle>
          <a:p xmlns:a="http://schemas.openxmlformats.org/drawingml/2006/main">
            <a:pPr>
              <a:defRPr sz="2175" b="1">
                <a:solidFill>
                  <a:srgbClr val="008CFF"/>
                </a:solidFill>
                <a:latin typeface="Arial"/>
                <a:ea typeface="Arial"/>
                <a:cs typeface="Arial"/>
              </a:defRPr>
            </a:pPr>
            <a:r>
              <a:rPr sz="2175" b="1">
                <a:solidFill>
                  <a:srgbClr val="008CFF"/>
                </a:solidFill>
                <a:latin typeface="Arial"/>
                <a:ea typeface="Arial"/>
                <a:cs typeface="Arial"/>
              </a:rPr>
              <a:t>Compétences</a:t>
            </a:r>
          </a:p>
        </p:txBody>
      </p:sp>
      <p:sp>
        <p:nvSpPr>
          <p:cNvPr id="8" name="">
            <a:extLst xmlns:a="http://schemas.openxmlformats.org/drawingml/2006/main">
              <a:ext uri="{FF2B5EF4-FFF2-40B4-BE49-F238E27FC236}">
                <a16:creationId xmlns:a16="http://schemas.microsoft.com/office/drawing/2014/main" id="{F1BD0150-BC46-48BA-ADEF-D0AD2FAE2F0C}"/>
              </a:ext>
            </a:extLst>
          </p:cNvPr>
          <p:cNvSpPr>
            <a:spLocks xmlns:a="http://schemas.openxmlformats.org/drawingml/2006/main" noGrp="1"/>
          </p:cNvSpPr>
          <p:nvPr/>
        </p:nvSpPr>
        <p:spPr>
          <a:xfrm xmlns:a="http://schemas.openxmlformats.org/drawingml/2006/main">
            <a:off x="3714750" y="3314700"/>
            <a:ext cx="7667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051039"/>
                </a:solidFill>
                <a:latin typeface="Arial"/>
                <a:ea typeface="Arial"/>
                <a:cs typeface="Arial"/>
              </a:defRPr>
            </a:defPPr>
          </a:lstStyle>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Identifier les acquis et les apprentissages</a:t>
            </a:r>
          </a:p>
        </p:txBody>
      </p:sp>
      <p:sp>
        <p:nvSpPr>
          <p:cNvPr id="9" name="">
            <a:extLst xmlns:a="http://schemas.openxmlformats.org/drawingml/2006/main">
              <a:ext uri="{FF2B5EF4-FFF2-40B4-BE49-F238E27FC236}">
                <a16:creationId xmlns:a16="http://schemas.microsoft.com/office/drawing/2014/main" id="{F3F929FF-D07A-4B1B-B915-F82AADE3B178}"/>
              </a:ext>
            </a:extLst>
          </p:cNvPr>
          <p:cNvSpPr>
            <a:spLocks xmlns:a="http://schemas.openxmlformats.org/drawingml/2006/main" noGrp="1"/>
          </p:cNvSpPr>
          <p:nvPr/>
        </p:nvSpPr>
        <p:spPr>
          <a:xfrm xmlns:a="http://schemas.openxmlformats.org/drawingml/2006/main">
            <a:off x="685800" y="4048125"/>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008CFF"/>
                </a:solidFill>
                <a:latin typeface="Arial"/>
                <a:ea typeface="Arial"/>
                <a:cs typeface="Arial"/>
              </a:defRPr>
            </a:defPPr>
          </a:lstStyle>
          <a:p xmlns:a="http://schemas.openxmlformats.org/drawingml/2006/main">
            <a:pPr>
              <a:defRPr sz="2175" b="1">
                <a:solidFill>
                  <a:srgbClr val="008CFF"/>
                </a:solidFill>
                <a:latin typeface="Arial"/>
                <a:ea typeface="Arial"/>
                <a:cs typeface="Arial"/>
              </a:defRPr>
            </a:pPr>
            <a:r>
              <a:rPr sz="2175" b="1">
                <a:solidFill>
                  <a:srgbClr val="008CFF"/>
                </a:solidFill>
                <a:latin typeface="Arial"/>
                <a:ea typeface="Arial"/>
                <a:cs typeface="Arial"/>
              </a:rPr>
              <a:t>Expériences</a:t>
            </a:r>
          </a:p>
        </p:txBody>
      </p:sp>
      <p:sp>
        <p:nvSpPr>
          <p:cNvPr id="10" name="">
            <a:extLst xmlns:a="http://schemas.openxmlformats.org/drawingml/2006/main">
              <a:ext uri="{FF2B5EF4-FFF2-40B4-BE49-F238E27FC236}">
                <a16:creationId xmlns:a16="http://schemas.microsoft.com/office/drawing/2014/main" id="{2E3538AE-D4DA-4D7B-A77B-D344FD61912F}"/>
              </a:ext>
            </a:extLst>
          </p:cNvPr>
          <p:cNvSpPr>
            <a:spLocks xmlns:a="http://schemas.openxmlformats.org/drawingml/2006/main" noGrp="1"/>
          </p:cNvSpPr>
          <p:nvPr/>
        </p:nvSpPr>
        <p:spPr>
          <a:xfrm xmlns:a="http://schemas.openxmlformats.org/drawingml/2006/main">
            <a:off x="3714750" y="4048125"/>
            <a:ext cx="7667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051039"/>
                </a:solidFill>
                <a:latin typeface="Arial"/>
                <a:ea typeface="Arial"/>
                <a:cs typeface="Arial"/>
              </a:defRPr>
            </a:defPPr>
          </a:lstStyle>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Relier les expériences aux compétences</a:t>
            </a:r>
          </a:p>
        </p:txBody>
      </p:sp>
      <p:sp>
        <p:nvSpPr>
          <p:cNvPr id="11" name="">
            <a:extLst xmlns:a="http://schemas.openxmlformats.org/drawingml/2006/main">
              <a:ext uri="{FF2B5EF4-FFF2-40B4-BE49-F238E27FC236}">
                <a16:creationId xmlns:a16="http://schemas.microsoft.com/office/drawing/2014/main" id="{3BA0E4C3-BD2D-4F83-86A0-31661A2F7176}"/>
              </a:ext>
            </a:extLst>
          </p:cNvPr>
          <p:cNvSpPr>
            <a:spLocks xmlns:a="http://schemas.openxmlformats.org/drawingml/2006/main" noGrp="1"/>
          </p:cNvSpPr>
          <p:nvPr/>
        </p:nvSpPr>
        <p:spPr>
          <a:xfrm xmlns:a="http://schemas.openxmlformats.org/drawingml/2006/main">
            <a:off x="685800" y="4781550"/>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008CFF"/>
                </a:solidFill>
                <a:latin typeface="Arial"/>
                <a:ea typeface="Arial"/>
                <a:cs typeface="Arial"/>
              </a:defRPr>
            </a:defPPr>
          </a:lstStyle>
          <a:p xmlns:a="http://schemas.openxmlformats.org/drawingml/2006/main">
            <a:pPr>
              <a:defRPr sz="2175" b="1">
                <a:solidFill>
                  <a:srgbClr val="008CFF"/>
                </a:solidFill>
                <a:latin typeface="Arial"/>
                <a:ea typeface="Arial"/>
                <a:cs typeface="Arial"/>
              </a:defRPr>
            </a:pPr>
            <a:r>
              <a:rPr sz="2175" b="1">
                <a:solidFill>
                  <a:srgbClr val="008CFF"/>
                </a:solidFill>
                <a:latin typeface="Arial"/>
                <a:ea typeface="Arial"/>
                <a:cs typeface="Arial"/>
              </a:rPr>
              <a:t>Contact</a:t>
            </a:r>
          </a:p>
        </p:txBody>
      </p:sp>
      <p:sp>
        <p:nvSpPr>
          <p:cNvPr id="12" name="">
            <a:extLst xmlns:a="http://schemas.openxmlformats.org/drawingml/2006/main">
              <a:ext uri="{FF2B5EF4-FFF2-40B4-BE49-F238E27FC236}">
                <a16:creationId xmlns:a16="http://schemas.microsoft.com/office/drawing/2014/main" id="{04192EF2-EF1D-4F25-BE14-58087B472849}"/>
              </a:ext>
            </a:extLst>
          </p:cNvPr>
          <p:cNvSpPr>
            <a:spLocks xmlns:a="http://schemas.openxmlformats.org/drawingml/2006/main" noGrp="1"/>
          </p:cNvSpPr>
          <p:nvPr/>
        </p:nvSpPr>
        <p:spPr>
          <a:xfrm xmlns:a="http://schemas.openxmlformats.org/drawingml/2006/main">
            <a:off x="3714750" y="4781550"/>
            <a:ext cx="7667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051039"/>
                </a:solidFill>
                <a:latin typeface="Arial"/>
                <a:ea typeface="Arial"/>
                <a:cs typeface="Arial"/>
              </a:defRPr>
            </a:defPPr>
          </a:lstStyle>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Trouver un moyen de me joindre</a:t>
            </a:r>
          </a:p>
        </p:txBody>
      </p:sp>
      <p:sp>
        <p:nvSpPr>
          <p:cNvPr id="13" name="">
            <a:extLst xmlns:a="http://schemas.openxmlformats.org/drawingml/2006/main">
              <a:ext uri="{FF2B5EF4-FFF2-40B4-BE49-F238E27FC236}">
                <a16:creationId xmlns:a16="http://schemas.microsoft.com/office/drawing/2014/main" id="{89627A06-D81A-4A74-92D7-106887068A28}"/>
              </a:ext>
            </a:extLst>
          </p:cNvPr>
          <p:cNvSpPr>
            <a:spLocks xmlns:a="http://schemas.openxmlformats.org/drawingml/2006/main" noGrp="1"/>
          </p:cNvSpPr>
          <p:nvPr/>
        </p:nvSpPr>
        <p:spPr>
          <a:xfrm xmlns:a="http://schemas.openxmlformats.org/drawingml/2006/main">
            <a:off x="685800" y="58102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40506B"/>
                </a:solidFill>
                <a:latin typeface="Arial"/>
                <a:ea typeface="Arial"/>
                <a:cs typeface="Arial"/>
              </a:defRPr>
            </a:defPPr>
          </a:lstStyle>
          <a:p xmlns:a="http://schemas.openxmlformats.org/drawingml/2006/main">
            <a:pPr>
              <a:defRPr sz="1875" b="0">
                <a:solidFill>
                  <a:srgbClr val="40506B"/>
                </a:solidFill>
                <a:latin typeface="Arial"/>
                <a:ea typeface="Arial"/>
                <a:cs typeface="Arial"/>
              </a:defRPr>
            </a:pPr>
            <a:r>
              <a:rPr sz="1875" b="0">
                <a:solidFill>
                  <a:srgbClr val="40506B"/>
                </a:solidFill>
                <a:latin typeface="Arial"/>
                <a:ea typeface="Arial"/>
                <a:cs typeface="Arial"/>
              </a:rPr>
              <a:t>Même menu sur les cinq pages</a:t>
            </a:r>
          </a:p>
        </p:txBody>
      </p:sp>
    </p:spTree>
    <p:extLst>
      <p:ext uri="{BB962C8B-B14F-4D97-AF65-F5344CB8AC3E}">
        <p14:creationId xmlns:p14="http://schemas.microsoft.com/office/powerpoint/2010/main" val="1403219826"/>
      </p:ext>
    </p:extLst>
  </p:cSld>
</p:sld>
</file>

<file path=ppt/slides/slide3.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735D332-9D9E-4DDF-AFBC-5945B6A5F35A}"/>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051039"/>
                </a:solidFill>
                <a:latin typeface="Arial"/>
                <a:ea typeface="Arial"/>
                <a:cs typeface="Arial"/>
              </a:defRPr>
            </a:defPPr>
          </a:lstStyle>
          <a:p xmlns:a="http://schemas.openxmlformats.org/drawingml/2006/main">
            <a:pPr>
              <a:defRPr sz="3300" b="1">
                <a:solidFill>
                  <a:srgbClr val="051039"/>
                </a:solidFill>
                <a:latin typeface="Arial"/>
                <a:ea typeface="Arial"/>
                <a:cs typeface="Arial"/>
              </a:defRPr>
            </a:pPr>
            <a:r>
              <a:rPr sz="3300" b="1">
                <a:solidFill>
                  <a:srgbClr val="051039"/>
                </a:solidFill>
                <a:latin typeface="Arial"/>
                <a:ea typeface="Arial"/>
                <a:cs typeface="Arial"/>
              </a:rPr>
              <a:t>Une identité cohérente, adaptée au mobile</a:t>
            </a:r>
          </a:p>
        </p:txBody>
      </p:sp>
      <p:sp>
        <p:nvSpPr>
          <p:cNvPr id="2" name="">
            <a:extLst xmlns:a="http://schemas.openxmlformats.org/drawingml/2006/main">
              <a:ext uri="{FF2B5EF4-FFF2-40B4-BE49-F238E27FC236}">
                <a16:creationId xmlns:a16="http://schemas.microsoft.com/office/drawing/2014/main" id="{167AD908-0422-4A32-B6BD-85FC85BF548B}"/>
              </a:ext>
            </a:extLst>
          </p:cNvPr>
          <p:cNvSpPr>
            <a:spLocks xmlns:a="http://schemas.openxmlformats.org/drawingml/2006/main" noGrp="1"/>
          </p:cNvSpPr>
          <p:nvPr/>
        </p:nvSpPr>
        <p:spPr>
          <a:xfrm xmlns:a="http://schemas.openxmlformats.org/drawingml/2006/main">
            <a:off x="10382250" y="6334125"/>
            <a:ext cx="1123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40506B"/>
                </a:solidFill>
                <a:latin typeface="Arial"/>
                <a:ea typeface="Arial"/>
                <a:cs typeface="Arial"/>
              </a:defRPr>
            </a:defPPr>
          </a:lstStyle>
          <a:p xmlns:a="http://schemas.openxmlformats.org/drawingml/2006/main">
            <a:pPr>
              <a:defRPr sz="1275" b="0">
                <a:solidFill>
                  <a:srgbClr val="40506B"/>
                </a:solidFill>
                <a:latin typeface="Arial"/>
                <a:ea typeface="Arial"/>
                <a:cs typeface="Arial"/>
              </a:defRPr>
            </a:pPr>
            <a:r>
              <a:rPr sz="1275" b="0">
                <a:solidFill>
                  <a:srgbClr val="40506B"/>
                </a:solidFill>
                <a:latin typeface="Arial"/>
                <a:ea typeface="Arial"/>
                <a:cs typeface="Arial"/>
              </a:rPr>
              <a:t>03 / 08</a:t>
            </a:r>
          </a:p>
        </p:txBody>
      </p:sp>
      <p:sp>
        <p:nvSpPr>
          <p:cNvPr id="3" name="">
            <a:extLst xmlns:a="http://schemas.openxmlformats.org/drawingml/2006/main">
              <a:ext uri="{FF2B5EF4-FFF2-40B4-BE49-F238E27FC236}">
                <a16:creationId xmlns:a16="http://schemas.microsoft.com/office/drawing/2014/main" id="{613D34D1-7B85-438F-8B70-58FCCBF99D30}"/>
              </a:ext>
            </a:extLst>
          </p:cNvPr>
          <p:cNvSpPr>
            <a:spLocks xmlns:a="http://schemas.openxmlformats.org/drawingml/2006/main" noGrp="1"/>
          </p:cNvSpPr>
          <p:nvPr/>
        </p:nvSpPr>
        <p:spPr>
          <a:xfrm xmlns:a="http://schemas.openxmlformats.org/drawingml/2006/main">
            <a:off x="685800" y="1857375"/>
            <a:ext cx="490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008CFF"/>
                </a:solidFill>
                <a:latin typeface="Arial"/>
                <a:ea typeface="Arial"/>
                <a:cs typeface="Arial"/>
              </a:defRPr>
            </a:defPPr>
          </a:lstStyle>
          <a:p xmlns:a="http://schemas.openxmlformats.org/drawingml/2006/main">
            <a:pPr>
              <a:defRPr sz="2250" b="1">
                <a:solidFill>
                  <a:srgbClr val="008CFF"/>
                </a:solidFill>
                <a:latin typeface="Arial"/>
                <a:ea typeface="Arial"/>
                <a:cs typeface="Arial"/>
              </a:defRPr>
            </a:pPr>
            <a:r>
              <a:rPr sz="2250" b="1">
                <a:solidFill>
                  <a:srgbClr val="008CFF"/>
                </a:solidFill>
                <a:latin typeface="Arial"/>
                <a:ea typeface="Arial"/>
                <a:cs typeface="Arial"/>
              </a:rPr>
              <a:t>Bleu marine et fond clair</a:t>
            </a:r>
          </a:p>
        </p:txBody>
      </p:sp>
      <p:sp>
        <p:nvSpPr>
          <p:cNvPr id="4" name="">
            <a:extLst xmlns:a="http://schemas.openxmlformats.org/drawingml/2006/main">
              <a:ext uri="{FF2B5EF4-FFF2-40B4-BE49-F238E27FC236}">
                <a16:creationId xmlns:a16="http://schemas.microsoft.com/office/drawing/2014/main" id="{8E00675B-E9E5-4899-9695-0EAB46B93857}"/>
              </a:ext>
            </a:extLst>
          </p:cNvPr>
          <p:cNvSpPr>
            <a:spLocks xmlns:a="http://schemas.openxmlformats.org/drawingml/2006/main" noGrp="1"/>
          </p:cNvSpPr>
          <p:nvPr/>
        </p:nvSpPr>
        <p:spPr>
          <a:xfrm xmlns:a="http://schemas.openxmlformats.org/drawingml/2006/main">
            <a:off x="685800" y="2324100"/>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51039"/>
                </a:solidFill>
                <a:latin typeface="Arial"/>
                <a:ea typeface="Arial"/>
                <a:cs typeface="Arial"/>
              </a:defRPr>
            </a:defPPr>
          </a:lstStyle>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Hiérarchiser les informations</a:t>
            </a:r>
          </a:p>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et garder une lecture sobre</a:t>
            </a:r>
          </a:p>
        </p:txBody>
      </p:sp>
      <p:sp>
        <p:nvSpPr>
          <p:cNvPr id="5" name="">
            <a:extLst xmlns:a="http://schemas.openxmlformats.org/drawingml/2006/main">
              <a:ext uri="{FF2B5EF4-FFF2-40B4-BE49-F238E27FC236}">
                <a16:creationId xmlns:a16="http://schemas.microsoft.com/office/drawing/2014/main" id="{B6DC9DF1-BABD-4DDB-9A0D-4825C3E2AF13}"/>
              </a:ext>
            </a:extLst>
          </p:cNvPr>
          <p:cNvSpPr>
            <a:spLocks xmlns:a="http://schemas.openxmlformats.org/drawingml/2006/main" noGrp="1"/>
          </p:cNvSpPr>
          <p:nvPr/>
        </p:nvSpPr>
        <p:spPr>
          <a:xfrm xmlns:a="http://schemas.openxmlformats.org/drawingml/2006/main">
            <a:off x="685800" y="3714750"/>
            <a:ext cx="490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008CFF"/>
                </a:solidFill>
                <a:latin typeface="Arial"/>
                <a:ea typeface="Arial"/>
                <a:cs typeface="Arial"/>
              </a:defRPr>
            </a:defPPr>
          </a:lstStyle>
          <a:p xmlns:a="http://schemas.openxmlformats.org/drawingml/2006/main">
            <a:pPr>
              <a:defRPr sz="2250" b="1">
                <a:solidFill>
                  <a:srgbClr val="008CFF"/>
                </a:solidFill>
                <a:latin typeface="Arial"/>
                <a:ea typeface="Arial"/>
                <a:cs typeface="Arial"/>
              </a:defRPr>
            </a:pPr>
            <a:r>
              <a:rPr sz="2250" b="1">
                <a:solidFill>
                  <a:srgbClr val="008CFF"/>
                </a:solidFill>
                <a:latin typeface="Arial"/>
                <a:ea typeface="Arial"/>
                <a:cs typeface="Arial"/>
              </a:rPr>
              <a:t>Bleu vif pour les interactions</a:t>
            </a:r>
          </a:p>
        </p:txBody>
      </p:sp>
      <p:sp>
        <p:nvSpPr>
          <p:cNvPr id="6" name="">
            <a:extLst xmlns:a="http://schemas.openxmlformats.org/drawingml/2006/main">
              <a:ext uri="{FF2B5EF4-FFF2-40B4-BE49-F238E27FC236}">
                <a16:creationId xmlns:a16="http://schemas.microsoft.com/office/drawing/2014/main" id="{3CB0D4EF-2174-49F5-AB14-EB22A8C817EF}"/>
              </a:ext>
            </a:extLst>
          </p:cNvPr>
          <p:cNvSpPr>
            <a:spLocks xmlns:a="http://schemas.openxmlformats.org/drawingml/2006/main" noGrp="1"/>
          </p:cNvSpPr>
          <p:nvPr/>
        </p:nvSpPr>
        <p:spPr>
          <a:xfrm xmlns:a="http://schemas.openxmlformats.org/drawingml/2006/main">
            <a:off x="685800" y="418147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51039"/>
                </a:solidFill>
                <a:latin typeface="Arial"/>
                <a:ea typeface="Arial"/>
                <a:cs typeface="Arial"/>
              </a:defRPr>
            </a:defPPr>
          </a:lstStyle>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Repérer les liens, les boutons</a:t>
            </a:r>
          </a:p>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et les éléments actifs</a:t>
            </a:r>
          </a:p>
        </p:txBody>
      </p:sp>
      <p:sp>
        <p:nvSpPr>
          <p:cNvPr id="7" name="">
            <a:extLst xmlns:a="http://schemas.openxmlformats.org/drawingml/2006/main">
              <a:ext uri="{FF2B5EF4-FFF2-40B4-BE49-F238E27FC236}">
                <a16:creationId xmlns:a16="http://schemas.microsoft.com/office/drawing/2014/main" id="{C39E78E1-DF47-4D33-84E1-7053CE62C4C9}"/>
              </a:ext>
            </a:extLst>
          </p:cNvPr>
          <p:cNvSpPr>
            <a:spLocks xmlns:a="http://schemas.openxmlformats.org/drawingml/2006/main" noGrp="1"/>
          </p:cNvSpPr>
          <p:nvPr/>
        </p:nvSpPr>
        <p:spPr>
          <a:xfrm xmlns:a="http://schemas.openxmlformats.org/drawingml/2006/main">
            <a:off x="6305550" y="18573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008CFF"/>
                </a:solidFill>
                <a:latin typeface="Arial"/>
                <a:ea typeface="Arial"/>
                <a:cs typeface="Arial"/>
              </a:defRPr>
            </a:defPPr>
          </a:lstStyle>
          <a:p xmlns:a="http://schemas.openxmlformats.org/drawingml/2006/main">
            <a:pPr>
              <a:defRPr sz="2175" b="1">
                <a:solidFill>
                  <a:srgbClr val="008CFF"/>
                </a:solidFill>
                <a:latin typeface="Arial"/>
                <a:ea typeface="Arial"/>
                <a:cs typeface="Arial"/>
              </a:defRPr>
            </a:pPr>
            <a:r>
              <a:rPr sz="2175" b="1">
                <a:solidFill>
                  <a:srgbClr val="008CFF"/>
                </a:solidFill>
                <a:latin typeface="Arial"/>
                <a:ea typeface="Arial"/>
                <a:cs typeface="Arial"/>
              </a:rPr>
              <a:t>Le responsive dans le CSS</a:t>
            </a:r>
          </a:p>
        </p:txBody>
      </p:sp>
      <p:sp>
        <p:nvSpPr>
          <p:cNvPr id="8" name="">
            <a:extLst xmlns:a="http://schemas.openxmlformats.org/drawingml/2006/main">
              <a:ext uri="{FF2B5EF4-FFF2-40B4-BE49-F238E27FC236}">
                <a16:creationId xmlns:a16="http://schemas.microsoft.com/office/drawing/2014/main" id="{889A84E3-8673-4EF7-ACF2-A9F90B469214}"/>
              </a:ext>
            </a:extLst>
          </p:cNvPr>
          <p:cNvSpPr>
            <a:spLocks xmlns:a="http://schemas.openxmlformats.org/drawingml/2006/main" noGrp="1"/>
          </p:cNvSpPr>
          <p:nvPr/>
        </p:nvSpPr>
        <p:spPr>
          <a:xfrm xmlns:a="http://schemas.openxmlformats.org/drawingml/2006/main">
            <a:off x="6305550" y="2552700"/>
            <a:ext cx="5143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051039"/>
                </a:solidFill>
                <a:latin typeface="Arial"/>
                <a:ea typeface="Arial"/>
                <a:cs typeface="Arial"/>
              </a:defRPr>
            </a:defPPr>
          </a:lstStyle>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@media (max-width: 768px) {</a:t>
            </a:r>
          </a:p>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  .hero {</a:t>
            </a:r>
          </a:p>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    flex-direction: column;</a:t>
            </a:r>
          </a:p>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  }</a:t>
            </a:r>
          </a:p>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  nav { flex-wrap: wrap; }</a:t>
            </a:r>
          </a:p>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1E45FD3F-78E5-466A-965E-FA17E763936C}"/>
              </a:ext>
            </a:extLst>
          </p:cNvPr>
          <p:cNvSpPr>
            <a:spLocks xmlns:a="http://schemas.openxmlformats.org/drawingml/2006/main" noGrp="1"/>
          </p:cNvSpPr>
          <p:nvPr/>
        </p:nvSpPr>
        <p:spPr>
          <a:xfrm xmlns:a="http://schemas.openxmlformats.org/drawingml/2006/main">
            <a:off x="6305550" y="5400675"/>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40506B"/>
                </a:solidFill>
                <a:latin typeface="Arial"/>
                <a:ea typeface="Arial"/>
                <a:cs typeface="Arial"/>
              </a:defRPr>
            </a:defPPr>
          </a:lstStyle>
          <a:p xmlns:a="http://schemas.openxmlformats.org/drawingml/2006/main">
            <a:pPr>
              <a:defRPr sz="1875" b="0">
                <a:solidFill>
                  <a:srgbClr val="40506B"/>
                </a:solidFill>
                <a:latin typeface="Arial"/>
                <a:ea typeface="Arial"/>
                <a:cs typeface="Arial"/>
              </a:defRPr>
            </a:pPr>
            <a:r>
              <a:rPr sz="1875" b="0">
                <a:solidFill>
                  <a:srgbClr val="40506B"/>
                </a:solidFill>
                <a:latin typeface="Arial"/>
                <a:ea typeface="Arial"/>
                <a:cs typeface="Arial"/>
              </a:rPr>
              <a:t>Arial  •  Flexbox  •  Media queries</a:t>
            </a:r>
          </a:p>
        </p:txBody>
      </p:sp>
    </p:spTree>
    <p:extLst>
      <p:ext uri="{BB962C8B-B14F-4D97-AF65-F5344CB8AC3E}">
        <p14:creationId xmlns:p14="http://schemas.microsoft.com/office/powerpoint/2010/main" val="779734680"/>
      </p:ext>
    </p:extLst>
  </p:cSld>
</p:sld>
</file>

<file path=ppt/slides/slide4.xml><?xml version="1.0" encoding="utf-8"?>
<p:sld xmlns:p="http://schemas.openxmlformats.org/presentationml/2006/main">
  <p:cSld>
    <p:bg>
      <p:bgPr>
        <a:solidFill xmlns:a="http://schemas.openxmlformats.org/drawingml/2006/main">
          <a:srgbClr val="05103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15BF20C-4B03-45DA-BA95-445F5ED04842}"/>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Une architecture statique et lisible</a:t>
            </a:r>
          </a:p>
        </p:txBody>
      </p:sp>
      <p:sp>
        <p:nvSpPr>
          <p:cNvPr id="2" name="">
            <a:extLst xmlns:a="http://schemas.openxmlformats.org/drawingml/2006/main">
              <a:ext uri="{FF2B5EF4-FFF2-40B4-BE49-F238E27FC236}">
                <a16:creationId xmlns:a16="http://schemas.microsoft.com/office/drawing/2014/main" id="{1FD1FD24-BFC3-49AC-A4B9-F2853033BFB8}"/>
              </a:ext>
            </a:extLst>
          </p:cNvPr>
          <p:cNvSpPr>
            <a:spLocks xmlns:a="http://schemas.openxmlformats.org/drawingml/2006/main" noGrp="1"/>
          </p:cNvSpPr>
          <p:nvPr/>
        </p:nvSpPr>
        <p:spPr>
          <a:xfrm xmlns:a="http://schemas.openxmlformats.org/drawingml/2006/main">
            <a:off x="10382250" y="6334125"/>
            <a:ext cx="1123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8C6DD"/>
                </a:solidFill>
                <a:latin typeface="Arial"/>
                <a:ea typeface="Arial"/>
                <a:cs typeface="Arial"/>
              </a:defRPr>
            </a:defPPr>
          </a:lstStyle>
          <a:p xmlns:a="http://schemas.openxmlformats.org/drawingml/2006/main">
            <a:pPr>
              <a:defRPr sz="1275" b="0">
                <a:solidFill>
                  <a:srgbClr val="B8C6DD"/>
                </a:solidFill>
                <a:latin typeface="Arial"/>
                <a:ea typeface="Arial"/>
                <a:cs typeface="Arial"/>
              </a:defRPr>
            </a:pPr>
            <a:r>
              <a:rPr sz="1275" b="0">
                <a:solidFill>
                  <a:srgbClr val="B8C6DD"/>
                </a:solidFill>
                <a:latin typeface="Arial"/>
                <a:ea typeface="Arial"/>
                <a:cs typeface="Arial"/>
              </a:rPr>
              <a:t>04 / 08</a:t>
            </a:r>
          </a:p>
        </p:txBody>
      </p:sp>
      <p:sp>
        <p:nvSpPr>
          <p:cNvPr id="3" name="">
            <a:extLst xmlns:a="http://schemas.openxmlformats.org/drawingml/2006/main">
              <a:ext uri="{FF2B5EF4-FFF2-40B4-BE49-F238E27FC236}">
                <a16:creationId xmlns:a16="http://schemas.microsoft.com/office/drawing/2014/main" id="{0245556D-D4A6-4194-9EC1-589EA38CED9F}"/>
              </a:ext>
            </a:extLst>
          </p:cNvPr>
          <p:cNvSpPr>
            <a:spLocks xmlns:a="http://schemas.openxmlformats.org/drawingml/2006/main" noGrp="1"/>
          </p:cNvSpPr>
          <p:nvPr/>
        </p:nvSpPr>
        <p:spPr>
          <a:xfrm xmlns:a="http://schemas.openxmlformats.org/drawingml/2006/main">
            <a:off x="685800" y="18573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6FBEFF"/>
                </a:solidFill>
                <a:latin typeface="Arial"/>
                <a:ea typeface="Arial"/>
                <a:cs typeface="Arial"/>
              </a:defRPr>
            </a:defPPr>
          </a:lstStyle>
          <a:p xmlns:a="http://schemas.openxmlformats.org/drawingml/2006/main">
            <a:pPr>
              <a:defRPr sz="2250" b="1">
                <a:solidFill>
                  <a:srgbClr val="6FBEFF"/>
                </a:solidFill>
                <a:latin typeface="Arial"/>
                <a:ea typeface="Arial"/>
                <a:cs typeface="Arial"/>
              </a:defRPr>
            </a:pPr>
            <a:r>
              <a:rPr sz="2250" b="1">
                <a:solidFill>
                  <a:srgbClr val="6FBEFF"/>
                </a:solidFill>
                <a:latin typeface="Arial"/>
                <a:ea typeface="Arial"/>
                <a:cs typeface="Arial"/>
              </a:rPr>
              <a:t>HTML</a:t>
            </a:r>
          </a:p>
        </p:txBody>
      </p:sp>
      <p:sp>
        <p:nvSpPr>
          <p:cNvPr id="4" name="">
            <a:extLst xmlns:a="http://schemas.openxmlformats.org/drawingml/2006/main">
              <a:ext uri="{FF2B5EF4-FFF2-40B4-BE49-F238E27FC236}">
                <a16:creationId xmlns:a16="http://schemas.microsoft.com/office/drawing/2014/main" id="{35FEC6F8-1BD2-4772-9A00-06C03FF21E91}"/>
              </a:ext>
            </a:extLst>
          </p:cNvPr>
          <p:cNvSpPr>
            <a:spLocks xmlns:a="http://schemas.openxmlformats.org/drawingml/2006/main" noGrp="1"/>
          </p:cNvSpPr>
          <p:nvPr/>
        </p:nvSpPr>
        <p:spPr>
          <a:xfrm xmlns:a="http://schemas.openxmlformats.org/drawingml/2006/main">
            <a:off x="685800" y="232410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Structure sémantique</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et contenu des cinq pages</a:t>
            </a:r>
          </a:p>
        </p:txBody>
      </p:sp>
      <p:sp>
        <p:nvSpPr>
          <p:cNvPr id="5" name="">
            <a:extLst xmlns:a="http://schemas.openxmlformats.org/drawingml/2006/main">
              <a:ext uri="{FF2B5EF4-FFF2-40B4-BE49-F238E27FC236}">
                <a16:creationId xmlns:a16="http://schemas.microsoft.com/office/drawing/2014/main" id="{EF42A341-FF15-4048-AD90-C7000A6CED28}"/>
              </a:ext>
            </a:extLst>
          </p:cNvPr>
          <p:cNvSpPr>
            <a:spLocks xmlns:a="http://schemas.openxmlformats.org/drawingml/2006/main" noGrp="1"/>
          </p:cNvSpPr>
          <p:nvPr/>
        </p:nvSpPr>
        <p:spPr>
          <a:xfrm xmlns:a="http://schemas.openxmlformats.org/drawingml/2006/main">
            <a:off x="685800" y="371475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6FBEFF"/>
                </a:solidFill>
                <a:latin typeface="Arial"/>
                <a:ea typeface="Arial"/>
                <a:cs typeface="Arial"/>
              </a:defRPr>
            </a:defPPr>
          </a:lstStyle>
          <a:p xmlns:a="http://schemas.openxmlformats.org/drawingml/2006/main">
            <a:pPr>
              <a:defRPr sz="2250" b="1">
                <a:solidFill>
                  <a:srgbClr val="6FBEFF"/>
                </a:solidFill>
                <a:latin typeface="Arial"/>
                <a:ea typeface="Arial"/>
                <a:cs typeface="Arial"/>
              </a:defRPr>
            </a:pPr>
            <a:r>
              <a:rPr sz="2250" b="1">
                <a:solidFill>
                  <a:srgbClr val="6FBEFF"/>
                </a:solidFill>
                <a:latin typeface="Arial"/>
                <a:ea typeface="Arial"/>
                <a:cs typeface="Arial"/>
              </a:rPr>
              <a:t>CSS</a:t>
            </a:r>
          </a:p>
        </p:txBody>
      </p:sp>
      <p:sp>
        <p:nvSpPr>
          <p:cNvPr id="6" name="">
            <a:extLst xmlns:a="http://schemas.openxmlformats.org/drawingml/2006/main">
              <a:ext uri="{FF2B5EF4-FFF2-40B4-BE49-F238E27FC236}">
                <a16:creationId xmlns:a16="http://schemas.microsoft.com/office/drawing/2014/main" id="{BE9046EE-06B1-4C6E-9EE2-D877349A3F08}"/>
              </a:ext>
            </a:extLst>
          </p:cNvPr>
          <p:cNvSpPr>
            <a:spLocks xmlns:a="http://schemas.openxmlformats.org/drawingml/2006/main" noGrp="1"/>
          </p:cNvSpPr>
          <p:nvPr/>
        </p:nvSpPr>
        <p:spPr>
          <a:xfrm xmlns:a="http://schemas.openxmlformats.org/drawingml/2006/main">
            <a:off x="685800" y="418147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Une feuille partagée</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pour les styles et le responsive</a:t>
            </a:r>
          </a:p>
        </p:txBody>
      </p:sp>
      <p:sp>
        <p:nvSpPr>
          <p:cNvPr id="7" name="">
            <a:extLst xmlns:a="http://schemas.openxmlformats.org/drawingml/2006/main">
              <a:ext uri="{FF2B5EF4-FFF2-40B4-BE49-F238E27FC236}">
                <a16:creationId xmlns:a16="http://schemas.microsoft.com/office/drawing/2014/main" id="{9BE466C5-210F-4A60-BA52-DF1B42C30FDA}"/>
              </a:ext>
            </a:extLst>
          </p:cNvPr>
          <p:cNvSpPr>
            <a:spLocks xmlns:a="http://schemas.openxmlformats.org/drawingml/2006/main" noGrp="1"/>
          </p:cNvSpPr>
          <p:nvPr/>
        </p:nvSpPr>
        <p:spPr>
          <a:xfrm xmlns:a="http://schemas.openxmlformats.org/drawingml/2006/main">
            <a:off x="6534150" y="1857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6FBEFF"/>
                </a:solidFill>
                <a:latin typeface="Arial"/>
                <a:ea typeface="Arial"/>
                <a:cs typeface="Arial"/>
              </a:defRPr>
            </a:defPPr>
          </a:lstStyle>
          <a:p xmlns:a="http://schemas.openxmlformats.org/drawingml/2006/main">
            <a:pPr>
              <a:defRPr sz="2250" b="1">
                <a:solidFill>
                  <a:srgbClr val="6FBEFF"/>
                </a:solidFill>
                <a:latin typeface="Arial"/>
                <a:ea typeface="Arial"/>
                <a:cs typeface="Arial"/>
              </a:defRPr>
            </a:pPr>
            <a:r>
              <a:rPr sz="2250" b="1">
                <a:solidFill>
                  <a:srgbClr val="6FBEFF"/>
                </a:solidFill>
                <a:latin typeface="Arial"/>
                <a:ea typeface="Arial"/>
                <a:cs typeface="Arial"/>
              </a:rPr>
              <a:t>JavaScript</a:t>
            </a:r>
          </a:p>
        </p:txBody>
      </p:sp>
      <p:sp>
        <p:nvSpPr>
          <p:cNvPr id="8" name="">
            <a:extLst xmlns:a="http://schemas.openxmlformats.org/drawingml/2006/main">
              <a:ext uri="{FF2B5EF4-FFF2-40B4-BE49-F238E27FC236}">
                <a16:creationId xmlns:a16="http://schemas.microsoft.com/office/drawing/2014/main" id="{637377EA-D146-4351-B913-1C5FD7278B39}"/>
              </a:ext>
            </a:extLst>
          </p:cNvPr>
          <p:cNvSpPr>
            <a:spLocks xmlns:a="http://schemas.openxmlformats.org/drawingml/2006/main" noGrp="1"/>
          </p:cNvSpPr>
          <p:nvPr/>
        </p:nvSpPr>
        <p:spPr>
          <a:xfrm xmlns:a="http://schemas.openxmlformats.org/drawingml/2006/main">
            <a:off x="6534150" y="232410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Langues, carrousel</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et interactions</a:t>
            </a:r>
          </a:p>
        </p:txBody>
      </p:sp>
      <p:sp>
        <p:nvSpPr>
          <p:cNvPr id="9" name="">
            <a:extLst xmlns:a="http://schemas.openxmlformats.org/drawingml/2006/main">
              <a:ext uri="{FF2B5EF4-FFF2-40B4-BE49-F238E27FC236}">
                <a16:creationId xmlns:a16="http://schemas.microsoft.com/office/drawing/2014/main" id="{79F39C4D-94F3-4CDC-BB10-D4F912FFB8A0}"/>
              </a:ext>
            </a:extLst>
          </p:cNvPr>
          <p:cNvSpPr>
            <a:spLocks xmlns:a="http://schemas.openxmlformats.org/drawingml/2006/main" noGrp="1"/>
          </p:cNvSpPr>
          <p:nvPr/>
        </p:nvSpPr>
        <p:spPr>
          <a:xfrm xmlns:a="http://schemas.openxmlformats.org/drawingml/2006/main">
            <a:off x="6534150" y="3762375"/>
            <a:ext cx="4953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css/           style.css</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js/            lang.js, carousel.js</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images/        profil et captures</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Videos/        démonstration MP4</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documents/     CV public</a:t>
            </a:r>
          </a:p>
        </p:txBody>
      </p:sp>
      <p:sp>
        <p:nvSpPr>
          <p:cNvPr id="10" name="">
            <a:extLst xmlns:a="http://schemas.openxmlformats.org/drawingml/2006/main">
              <a:ext uri="{FF2B5EF4-FFF2-40B4-BE49-F238E27FC236}">
                <a16:creationId xmlns:a16="http://schemas.microsoft.com/office/drawing/2014/main" id="{910E2E43-E183-4A59-89AB-A1523F341CBD}"/>
              </a:ext>
            </a:extLst>
          </p:cNvPr>
          <p:cNvSpPr>
            <a:spLocks xmlns:a="http://schemas.openxmlformats.org/drawingml/2006/main" noGrp="1"/>
          </p:cNvSpPr>
          <p:nvPr/>
        </p:nvSpPr>
        <p:spPr>
          <a:xfrm xmlns:a="http://schemas.openxmlformats.org/drawingml/2006/main">
            <a:off x="685800" y="58293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6FBEFF"/>
                </a:solidFill>
                <a:latin typeface="Arial"/>
                <a:ea typeface="Arial"/>
                <a:cs typeface="Arial"/>
              </a:defRPr>
            </a:defPPr>
          </a:lstStyle>
          <a:p xmlns:a="http://schemas.openxmlformats.org/drawingml/2006/main">
            <a:pPr>
              <a:defRPr sz="1800" b="0">
                <a:solidFill>
                  <a:srgbClr val="6FBEFF"/>
                </a:solidFill>
                <a:latin typeface="Arial"/>
                <a:ea typeface="Arial"/>
                <a:cs typeface="Arial"/>
              </a:defRPr>
            </a:pPr>
            <a:r>
              <a:rPr sz="1800" b="0">
                <a:solidFill>
                  <a:srgbClr val="6FBEFF"/>
                </a:solidFill>
                <a:latin typeface="Arial"/>
                <a:ea typeface="Arial"/>
                <a:cs typeface="Arial"/>
              </a:rPr>
              <a:t>Choix : pas de framework ni de serveur applicatif pour ce site vitrine</a:t>
            </a:r>
          </a:p>
        </p:txBody>
      </p:sp>
    </p:spTree>
    <p:extLst>
      <p:ext uri="{BB962C8B-B14F-4D97-AF65-F5344CB8AC3E}">
        <p14:creationId xmlns:p14="http://schemas.microsoft.com/office/powerpoint/2010/main" val="929429653"/>
      </p:ext>
    </p:extLst>
  </p:cSld>
</p:sld>
</file>

<file path=ppt/slides/slide5.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F37EB49-C7AC-4397-AD4A-3CAC2F44EEF0}"/>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051039"/>
                </a:solidFill>
                <a:latin typeface="Arial"/>
                <a:ea typeface="Arial"/>
                <a:cs typeface="Arial"/>
              </a:defRPr>
            </a:defPPr>
          </a:lstStyle>
          <a:p xmlns:a="http://schemas.openxmlformats.org/drawingml/2006/main">
            <a:pPr>
              <a:defRPr sz="3300" b="1">
                <a:solidFill>
                  <a:srgbClr val="051039"/>
                </a:solidFill>
                <a:latin typeface="Arial"/>
                <a:ea typeface="Arial"/>
                <a:cs typeface="Arial"/>
              </a:defRPr>
            </a:pPr>
            <a:r>
              <a:rPr sz="3300" b="1">
                <a:solidFill>
                  <a:srgbClr val="051039"/>
                </a:solidFill>
                <a:latin typeface="Arial"/>
                <a:ea typeface="Arial"/>
                <a:cs typeface="Arial"/>
              </a:rPr>
              <a:t>Des fonctionnalités pour montrer les projets</a:t>
            </a:r>
          </a:p>
        </p:txBody>
      </p:sp>
      <p:sp>
        <p:nvSpPr>
          <p:cNvPr id="2" name="">
            <a:extLst xmlns:a="http://schemas.openxmlformats.org/drawingml/2006/main">
              <a:ext uri="{FF2B5EF4-FFF2-40B4-BE49-F238E27FC236}">
                <a16:creationId xmlns:a16="http://schemas.microsoft.com/office/drawing/2014/main" id="{1CF385D1-B073-48F7-BA09-A99CEC593361}"/>
              </a:ext>
            </a:extLst>
          </p:cNvPr>
          <p:cNvSpPr>
            <a:spLocks xmlns:a="http://schemas.openxmlformats.org/drawingml/2006/main" noGrp="1"/>
          </p:cNvSpPr>
          <p:nvPr/>
        </p:nvSpPr>
        <p:spPr>
          <a:xfrm xmlns:a="http://schemas.openxmlformats.org/drawingml/2006/main">
            <a:off x="10382250" y="6334125"/>
            <a:ext cx="1123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40506B"/>
                </a:solidFill>
                <a:latin typeface="Arial"/>
                <a:ea typeface="Arial"/>
                <a:cs typeface="Arial"/>
              </a:defRPr>
            </a:defPPr>
          </a:lstStyle>
          <a:p xmlns:a="http://schemas.openxmlformats.org/drawingml/2006/main">
            <a:pPr>
              <a:defRPr sz="1275" b="0">
                <a:solidFill>
                  <a:srgbClr val="40506B"/>
                </a:solidFill>
                <a:latin typeface="Arial"/>
                <a:ea typeface="Arial"/>
                <a:cs typeface="Arial"/>
              </a:defRPr>
            </a:pPr>
            <a:r>
              <a:rPr sz="1275" b="0">
                <a:solidFill>
                  <a:srgbClr val="40506B"/>
                </a:solidFill>
                <a:latin typeface="Arial"/>
                <a:ea typeface="Arial"/>
                <a:cs typeface="Arial"/>
              </a:rPr>
              <a:t>05 / 08</a:t>
            </a:r>
          </a:p>
        </p:txBody>
      </p:sp>
      <p:pic>
        <p:nvPicPr>
          <p:cNvPr id="3" name="">
            <a:extLst xmlns:a="http://schemas.openxmlformats.org/drawingml/2006/main">
              <a:ext uri="{FF2B5EF4-FFF2-40B4-BE49-F238E27FC236}">
                <a16:creationId xmlns:a16="http://schemas.microsoft.com/office/drawing/2014/main" id="{903F4B4A-605A-413E-A61F-D39FB085BCD8}"/>
              </a:ext>
            </a:extLst>
          </p:cNvPr>
          <p:cNvPicPr>
            <a:picLocks xmlns:a="http://schemas.openxmlformats.org/drawingml/2006/main" noChangeAspect="1"/>
          </p:cNvPicPr>
          <p:nvPr/>
        </p:nvPicPr>
        <p:blipFill>
          <a:blip xmlns:r="http://schemas.openxmlformats.org/officeDocument/2006/relationships" xmlns:a="http://schemas.openxmlformats.org/drawingml/2006/main" r:embed="R4d55e8377a72443a"/>
          <a:stretch xmlns:a="http://schemas.openxmlformats.org/drawingml/2006/main"/>
        </p:blipFill>
        <p:spPr>
          <a:xfrm xmlns:a="http://schemas.openxmlformats.org/drawingml/2006/main">
            <a:off x="2230203" y="1790700"/>
            <a:ext cx="2435694" cy="304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B6C13A7-72F0-44F6-BD6C-363FBF898124}"/>
              </a:ext>
            </a:extLst>
          </p:cNvPr>
          <p:cNvSpPr>
            <a:spLocks xmlns:a="http://schemas.openxmlformats.org/drawingml/2006/main" noGrp="1"/>
          </p:cNvSpPr>
          <p:nvPr/>
        </p:nvSpPr>
        <p:spPr>
          <a:xfrm xmlns:a="http://schemas.openxmlformats.org/drawingml/2006/main">
            <a:off x="685800" y="5019675"/>
            <a:ext cx="552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40506B"/>
                </a:solidFill>
                <a:latin typeface="Arial"/>
                <a:ea typeface="Arial"/>
                <a:cs typeface="Arial"/>
              </a:defRPr>
            </a:defPPr>
          </a:lstStyle>
          <a:p xmlns:a="http://schemas.openxmlformats.org/drawingml/2006/main">
            <a:pPr>
              <a:defRPr sz="1725" b="0">
                <a:solidFill>
                  <a:srgbClr val="40506B"/>
                </a:solidFill>
                <a:latin typeface="Arial"/>
                <a:ea typeface="Arial"/>
                <a:cs typeface="Arial"/>
              </a:defRPr>
            </a:pPr>
            <a:r>
              <a:rPr sz="1725" b="0">
                <a:solidFill>
                  <a:srgbClr val="40506B"/>
                </a:solidFill>
                <a:latin typeface="Arial"/>
                <a:ea typeface="Arial"/>
                <a:cs typeface="Arial"/>
              </a:rPr>
              <a:t>Capture intégrée au carrousel PYJOBS</a:t>
            </a:r>
          </a:p>
        </p:txBody>
      </p:sp>
      <p:sp>
        <p:nvSpPr>
          <p:cNvPr id="5" name="">
            <a:extLst xmlns:a="http://schemas.openxmlformats.org/drawingml/2006/main">
              <a:ext uri="{FF2B5EF4-FFF2-40B4-BE49-F238E27FC236}">
                <a16:creationId xmlns:a16="http://schemas.microsoft.com/office/drawing/2014/main" id="{1A2AA637-A47C-463B-B96E-06C16330B5EA}"/>
              </a:ext>
            </a:extLst>
          </p:cNvPr>
          <p:cNvSpPr>
            <a:spLocks xmlns:a="http://schemas.openxmlformats.org/drawingml/2006/main" noGrp="1"/>
          </p:cNvSpPr>
          <p:nvPr/>
        </p:nvSpPr>
        <p:spPr>
          <a:xfrm xmlns:a="http://schemas.openxmlformats.org/drawingml/2006/main">
            <a:off x="6715125" y="18002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008CFF"/>
                </a:solidFill>
                <a:latin typeface="Arial"/>
                <a:ea typeface="Arial"/>
                <a:cs typeface="Arial"/>
              </a:defRPr>
            </a:defPPr>
          </a:lstStyle>
          <a:p xmlns:a="http://schemas.openxmlformats.org/drawingml/2006/main">
            <a:pPr>
              <a:defRPr sz="2250" b="1">
                <a:solidFill>
                  <a:srgbClr val="008CFF"/>
                </a:solidFill>
                <a:latin typeface="Arial"/>
                <a:ea typeface="Arial"/>
                <a:cs typeface="Arial"/>
              </a:defRPr>
            </a:pPr>
            <a:r>
              <a:rPr sz="2250" b="1">
                <a:solidFill>
                  <a:srgbClr val="008CFF"/>
                </a:solidFill>
                <a:latin typeface="Arial"/>
                <a:ea typeface="Arial"/>
                <a:cs typeface="Arial"/>
              </a:rPr>
              <a:t>Carrousel de trois captures</a:t>
            </a:r>
          </a:p>
        </p:txBody>
      </p:sp>
      <p:sp>
        <p:nvSpPr>
          <p:cNvPr id="6" name="">
            <a:extLst xmlns:a="http://schemas.openxmlformats.org/drawingml/2006/main">
              <a:ext uri="{FF2B5EF4-FFF2-40B4-BE49-F238E27FC236}">
                <a16:creationId xmlns:a16="http://schemas.microsoft.com/office/drawing/2014/main" id="{203F6629-3017-4561-88FA-727F3911887E}"/>
              </a:ext>
            </a:extLst>
          </p:cNvPr>
          <p:cNvSpPr>
            <a:spLocks xmlns:a="http://schemas.openxmlformats.org/drawingml/2006/main" noGrp="1"/>
          </p:cNvSpPr>
          <p:nvPr/>
        </p:nvSpPr>
        <p:spPr>
          <a:xfrm xmlns:a="http://schemas.openxmlformats.org/drawingml/2006/main">
            <a:off x="6715125" y="226695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51039"/>
                </a:solidFill>
                <a:latin typeface="Arial"/>
                <a:ea typeface="Arial"/>
                <a:cs typeface="Arial"/>
              </a:defRPr>
            </a:defPPr>
          </a:lstStyle>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Index courant, boutons précédent / suivant</a:t>
            </a:r>
          </a:p>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et compteur annoncé avec aria-live</a:t>
            </a:r>
          </a:p>
        </p:txBody>
      </p:sp>
      <p:sp>
        <p:nvSpPr>
          <p:cNvPr id="7" name="">
            <a:extLst xmlns:a="http://schemas.openxmlformats.org/drawingml/2006/main">
              <a:ext uri="{FF2B5EF4-FFF2-40B4-BE49-F238E27FC236}">
                <a16:creationId xmlns:a16="http://schemas.microsoft.com/office/drawing/2014/main" id="{7B58EFB8-275C-4973-926A-50D44EF84AF6}"/>
              </a:ext>
            </a:extLst>
          </p:cNvPr>
          <p:cNvSpPr>
            <a:spLocks xmlns:a="http://schemas.openxmlformats.org/drawingml/2006/main" noGrp="1"/>
          </p:cNvSpPr>
          <p:nvPr/>
        </p:nvSpPr>
        <p:spPr>
          <a:xfrm xmlns:a="http://schemas.openxmlformats.org/drawingml/2006/main">
            <a:off x="6715125" y="33528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008CFF"/>
                </a:solidFill>
                <a:latin typeface="Arial"/>
                <a:ea typeface="Arial"/>
                <a:cs typeface="Arial"/>
              </a:defRPr>
            </a:defPPr>
          </a:lstStyle>
          <a:p xmlns:a="http://schemas.openxmlformats.org/drawingml/2006/main">
            <a:pPr>
              <a:defRPr sz="2250" b="1">
                <a:solidFill>
                  <a:srgbClr val="008CFF"/>
                </a:solidFill>
                <a:latin typeface="Arial"/>
                <a:ea typeface="Arial"/>
                <a:cs typeface="Arial"/>
              </a:defRPr>
            </a:pPr>
            <a:r>
              <a:rPr sz="2250" b="1">
                <a:solidFill>
                  <a:srgbClr val="008CFF"/>
                </a:solidFill>
                <a:latin typeface="Arial"/>
                <a:ea typeface="Arial"/>
                <a:cs typeface="Arial"/>
              </a:rPr>
              <a:t>FR / EN</a:t>
            </a:r>
          </a:p>
        </p:txBody>
      </p:sp>
      <p:sp>
        <p:nvSpPr>
          <p:cNvPr id="8" name="">
            <a:extLst xmlns:a="http://schemas.openxmlformats.org/drawingml/2006/main">
              <a:ext uri="{FF2B5EF4-FFF2-40B4-BE49-F238E27FC236}">
                <a16:creationId xmlns:a16="http://schemas.microsoft.com/office/drawing/2014/main" id="{19CFBD29-493D-49D7-B90B-EE30A5C2B3EB}"/>
              </a:ext>
            </a:extLst>
          </p:cNvPr>
          <p:cNvSpPr>
            <a:spLocks xmlns:a="http://schemas.openxmlformats.org/drawingml/2006/main" noGrp="1"/>
          </p:cNvSpPr>
          <p:nvPr/>
        </p:nvSpPr>
        <p:spPr>
          <a:xfrm xmlns:a="http://schemas.openxmlformats.org/drawingml/2006/main">
            <a:off x="6715125" y="38195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51039"/>
                </a:solidFill>
                <a:latin typeface="Arial"/>
                <a:ea typeface="Arial"/>
                <a:cs typeface="Arial"/>
              </a:defRPr>
            </a:defPPr>
          </a:lstStyle>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Clés data-i18n et dictionnaire ;</a:t>
            </a:r>
          </a:p>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préférence conservée dans localStorage</a:t>
            </a:r>
          </a:p>
        </p:txBody>
      </p:sp>
      <p:sp>
        <p:nvSpPr>
          <p:cNvPr id="9" name="">
            <a:extLst xmlns:a="http://schemas.openxmlformats.org/drawingml/2006/main">
              <a:ext uri="{FF2B5EF4-FFF2-40B4-BE49-F238E27FC236}">
                <a16:creationId xmlns:a16="http://schemas.microsoft.com/office/drawing/2014/main" id="{53E2EA74-5787-4924-9E8B-4ED5351CA675}"/>
              </a:ext>
            </a:extLst>
          </p:cNvPr>
          <p:cNvSpPr>
            <a:spLocks xmlns:a="http://schemas.openxmlformats.org/drawingml/2006/main" noGrp="1"/>
          </p:cNvSpPr>
          <p:nvPr/>
        </p:nvSpPr>
        <p:spPr>
          <a:xfrm xmlns:a="http://schemas.openxmlformats.org/drawingml/2006/main">
            <a:off x="6715125" y="5248275"/>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51039"/>
                </a:solidFill>
                <a:latin typeface="Arial"/>
                <a:ea typeface="Arial"/>
                <a:cs typeface="Arial"/>
              </a:defRPr>
            </a:defPPr>
          </a:lstStyle>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Vidéo Hangman : lecteur HTML natif</a:t>
            </a:r>
          </a:p>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CV : lien de téléchargement direct</a:t>
            </a:r>
          </a:p>
        </p:txBody>
      </p:sp>
    </p:spTree>
    <p:extLst>
      <p:ext uri="{BB962C8B-B14F-4D97-AF65-F5344CB8AC3E}">
        <p14:creationId xmlns:p14="http://schemas.microsoft.com/office/powerpoint/2010/main" val="1279843498"/>
      </p:ext>
    </p:extLst>
  </p:cSld>
</p:sld>
</file>

<file path=ppt/slides/slide6.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35F606-1BC8-4ABC-B865-788FBA80C0CA}"/>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051039"/>
                </a:solidFill>
                <a:latin typeface="Arial"/>
                <a:ea typeface="Arial"/>
                <a:cs typeface="Arial"/>
              </a:defRPr>
            </a:defPPr>
          </a:lstStyle>
          <a:p xmlns:a="http://schemas.openxmlformats.org/drawingml/2006/main">
            <a:pPr>
              <a:defRPr sz="3300" b="1">
                <a:solidFill>
                  <a:srgbClr val="051039"/>
                </a:solidFill>
                <a:latin typeface="Arial"/>
                <a:ea typeface="Arial"/>
                <a:cs typeface="Arial"/>
              </a:defRPr>
            </a:pPr>
            <a:r>
              <a:rPr sz="3300" b="1">
                <a:solidFill>
                  <a:srgbClr val="051039"/>
                </a:solidFill>
                <a:latin typeface="Arial"/>
                <a:ea typeface="Arial"/>
                <a:cs typeface="Arial"/>
              </a:rPr>
              <a:t>Qualité : les acquis et les contrôles à compléter</a:t>
            </a:r>
          </a:p>
        </p:txBody>
      </p:sp>
      <p:sp>
        <p:nvSpPr>
          <p:cNvPr id="2" name="">
            <a:extLst xmlns:a="http://schemas.openxmlformats.org/drawingml/2006/main">
              <a:ext uri="{FF2B5EF4-FFF2-40B4-BE49-F238E27FC236}">
                <a16:creationId xmlns:a16="http://schemas.microsoft.com/office/drawing/2014/main" id="{56979898-F407-4422-A4DE-61414C7CA536}"/>
              </a:ext>
            </a:extLst>
          </p:cNvPr>
          <p:cNvSpPr>
            <a:spLocks xmlns:a="http://schemas.openxmlformats.org/drawingml/2006/main" noGrp="1"/>
          </p:cNvSpPr>
          <p:nvPr/>
        </p:nvSpPr>
        <p:spPr>
          <a:xfrm xmlns:a="http://schemas.openxmlformats.org/drawingml/2006/main">
            <a:off x="10382250" y="6334125"/>
            <a:ext cx="1123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40506B"/>
                </a:solidFill>
                <a:latin typeface="Arial"/>
                <a:ea typeface="Arial"/>
                <a:cs typeface="Arial"/>
              </a:defRPr>
            </a:defPPr>
          </a:lstStyle>
          <a:p xmlns:a="http://schemas.openxmlformats.org/drawingml/2006/main">
            <a:pPr>
              <a:defRPr sz="1275" b="0">
                <a:solidFill>
                  <a:srgbClr val="40506B"/>
                </a:solidFill>
                <a:latin typeface="Arial"/>
                <a:ea typeface="Arial"/>
                <a:cs typeface="Arial"/>
              </a:defRPr>
            </a:pPr>
            <a:r>
              <a:rPr sz="1275" b="0">
                <a:solidFill>
                  <a:srgbClr val="40506B"/>
                </a:solidFill>
                <a:latin typeface="Arial"/>
                <a:ea typeface="Arial"/>
                <a:cs typeface="Arial"/>
              </a:rPr>
              <a:t>06 / 08</a:t>
            </a:r>
          </a:p>
        </p:txBody>
      </p:sp>
      <p:sp>
        <p:nvSpPr>
          <p:cNvPr id="3" name="">
            <a:extLst xmlns:a="http://schemas.openxmlformats.org/drawingml/2006/main">
              <a:ext uri="{FF2B5EF4-FFF2-40B4-BE49-F238E27FC236}">
                <a16:creationId xmlns:a16="http://schemas.microsoft.com/office/drawing/2014/main" id="{A78E0438-A5DA-4B0A-87AD-4AF6E3EBF960}"/>
              </a:ext>
            </a:extLst>
          </p:cNvPr>
          <p:cNvSpPr>
            <a:spLocks xmlns:a="http://schemas.openxmlformats.org/drawingml/2006/main" noGrp="1"/>
          </p:cNvSpPr>
          <p:nvPr/>
        </p:nvSpPr>
        <p:spPr>
          <a:xfrm xmlns:a="http://schemas.openxmlformats.org/drawingml/2006/main">
            <a:off x="685800" y="18097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1">
                <a:solidFill>
                  <a:srgbClr val="008CFF"/>
                </a:solidFill>
                <a:latin typeface="Arial"/>
                <a:ea typeface="Arial"/>
                <a:cs typeface="Arial"/>
              </a:defRPr>
            </a:defPPr>
          </a:lstStyle>
          <a:p xmlns:a="http://schemas.openxmlformats.org/drawingml/2006/main">
            <a:pPr>
              <a:defRPr sz="2400" b="1">
                <a:solidFill>
                  <a:srgbClr val="008CFF"/>
                </a:solidFill>
                <a:latin typeface="Arial"/>
                <a:ea typeface="Arial"/>
                <a:cs typeface="Arial"/>
              </a:defRPr>
            </a:pPr>
            <a:r>
              <a:rPr sz="2400" b="1">
                <a:solidFill>
                  <a:srgbClr val="008CFF"/>
                </a:solidFill>
                <a:latin typeface="Arial"/>
                <a:ea typeface="Arial"/>
                <a:cs typeface="Arial"/>
              </a:rPr>
              <a:t>Présent dans le code</a:t>
            </a:r>
          </a:p>
        </p:txBody>
      </p:sp>
      <p:sp>
        <p:nvSpPr>
          <p:cNvPr id="4" name="">
            <a:extLst xmlns:a="http://schemas.openxmlformats.org/drawingml/2006/main">
              <a:ext uri="{FF2B5EF4-FFF2-40B4-BE49-F238E27FC236}">
                <a16:creationId xmlns:a16="http://schemas.microsoft.com/office/drawing/2014/main" id="{951124E8-A81D-4E91-B3A6-9082BB9B1151}"/>
              </a:ext>
            </a:extLst>
          </p:cNvPr>
          <p:cNvSpPr>
            <a:spLocks xmlns:a="http://schemas.openxmlformats.org/drawingml/2006/main" noGrp="1"/>
          </p:cNvSpPr>
          <p:nvPr/>
        </p:nvSpPr>
        <p:spPr>
          <a:xfrm xmlns:a="http://schemas.openxmlformats.org/drawingml/2006/main">
            <a:off x="685800" y="2562225"/>
            <a:ext cx="5095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051039"/>
                </a:solidFill>
                <a:latin typeface="Arial"/>
                <a:ea typeface="Arial"/>
                <a:cs typeface="Arial"/>
              </a:defRPr>
            </a:defPPr>
          </a:lstStyle>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Textes alternatifs des images</a:t>
            </a:r>
          </a:p>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Labels associés aux champs</a:t>
            </a:r>
          </a:p>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Langue du document mise à jour</a:t>
            </a:r>
          </a:p>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Titres et descriptions des pages</a:t>
            </a:r>
          </a:p>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Focus visible sur plusieurs contrôles</a:t>
            </a:r>
          </a:p>
        </p:txBody>
      </p:sp>
      <p:sp>
        <p:nvSpPr>
          <p:cNvPr id="5" name="">
            <a:extLst xmlns:a="http://schemas.openxmlformats.org/drawingml/2006/main">
              <a:ext uri="{FF2B5EF4-FFF2-40B4-BE49-F238E27FC236}">
                <a16:creationId xmlns:a16="http://schemas.microsoft.com/office/drawing/2014/main" id="{7A431D87-3140-4AA9-83C6-F01391F493A2}"/>
              </a:ext>
            </a:extLst>
          </p:cNvPr>
          <p:cNvSpPr>
            <a:spLocks xmlns:a="http://schemas.openxmlformats.org/drawingml/2006/main" noGrp="1"/>
          </p:cNvSpPr>
          <p:nvPr/>
        </p:nvSpPr>
        <p:spPr>
          <a:xfrm xmlns:a="http://schemas.openxmlformats.org/drawingml/2006/main">
            <a:off x="6572250" y="18097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1">
                <a:solidFill>
                  <a:srgbClr val="008CFF"/>
                </a:solidFill>
                <a:latin typeface="Arial"/>
                <a:ea typeface="Arial"/>
                <a:cs typeface="Arial"/>
              </a:defRPr>
            </a:defPPr>
          </a:lstStyle>
          <a:p xmlns:a="http://schemas.openxmlformats.org/drawingml/2006/main">
            <a:pPr>
              <a:defRPr sz="2400" b="1">
                <a:solidFill>
                  <a:srgbClr val="008CFF"/>
                </a:solidFill>
                <a:latin typeface="Arial"/>
                <a:ea typeface="Arial"/>
                <a:cs typeface="Arial"/>
              </a:defRPr>
            </a:pPr>
            <a:r>
              <a:rPr sz="2400" b="1">
                <a:solidFill>
                  <a:srgbClr val="008CFF"/>
                </a:solidFill>
                <a:latin typeface="Arial"/>
                <a:ea typeface="Arial"/>
                <a:cs typeface="Arial"/>
              </a:rPr>
              <a:t>À vérifier ou à améliorer</a:t>
            </a:r>
          </a:p>
        </p:txBody>
      </p:sp>
      <p:sp>
        <p:nvSpPr>
          <p:cNvPr id="6" name="">
            <a:extLst xmlns:a="http://schemas.openxmlformats.org/drawingml/2006/main">
              <a:ext uri="{FF2B5EF4-FFF2-40B4-BE49-F238E27FC236}">
                <a16:creationId xmlns:a16="http://schemas.microsoft.com/office/drawing/2014/main" id="{A7F1731B-2BD7-42FF-81F1-CE8A5D709BE7}"/>
              </a:ext>
            </a:extLst>
          </p:cNvPr>
          <p:cNvSpPr>
            <a:spLocks xmlns:a="http://schemas.openxmlformats.org/drawingml/2006/main" noGrp="1"/>
          </p:cNvSpPr>
          <p:nvPr/>
        </p:nvSpPr>
        <p:spPr>
          <a:xfrm xmlns:a="http://schemas.openxmlformats.org/drawingml/2006/main">
            <a:off x="6572250" y="2562225"/>
            <a:ext cx="49530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051039"/>
                </a:solidFill>
                <a:latin typeface="Arial"/>
                <a:ea typeface="Arial"/>
                <a:cs typeface="Arial"/>
              </a:defRPr>
            </a:defPPr>
          </a:lstStyle>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Parcours complet au clavier</a:t>
            </a:r>
          </a:p>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Contrastes et focus sur fond clair</a:t>
            </a:r>
          </a:p>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Audit Lighthouse et poids des médias</a:t>
            </a:r>
          </a:p>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Traduction des libellés accessibles</a:t>
            </a:r>
          </a:p>
          <a:p xmlns:a="http://schemas.openxmlformats.org/drawingml/2006/main">
            <a:pPr>
              <a:defRPr sz="2025" b="0">
                <a:solidFill>
                  <a:srgbClr val="051039"/>
                </a:solidFill>
                <a:latin typeface="Arial"/>
                <a:ea typeface="Arial"/>
                <a:cs typeface="Arial"/>
              </a:defRPr>
            </a:pPr>
            <a:r>
              <a:rPr sz="2025" b="0">
                <a:solidFill>
                  <a:srgbClr val="051039"/>
                </a:solidFill>
                <a:latin typeface="Arial"/>
                <a:ea typeface="Arial"/>
                <a:cs typeface="Arial"/>
              </a:rPr>
              <a:t>Envoi du formulaire de contact</a:t>
            </a:r>
          </a:p>
        </p:txBody>
      </p:sp>
      <p:sp>
        <p:nvSpPr>
          <p:cNvPr id="7" name="">
            <a:extLst xmlns:a="http://schemas.openxmlformats.org/drawingml/2006/main">
              <a:ext uri="{FF2B5EF4-FFF2-40B4-BE49-F238E27FC236}">
                <a16:creationId xmlns:a16="http://schemas.microsoft.com/office/drawing/2014/main" id="{420E726C-3D40-4544-9F5C-0EA2EE8827CC}"/>
              </a:ext>
            </a:extLst>
          </p:cNvPr>
          <p:cNvSpPr>
            <a:spLocks xmlns:a="http://schemas.openxmlformats.org/drawingml/2006/main" noGrp="1"/>
          </p:cNvSpPr>
          <p:nvPr/>
        </p:nvSpPr>
        <p:spPr>
          <a:xfrm xmlns:a="http://schemas.openxmlformats.org/drawingml/2006/main">
            <a:off x="685800" y="5810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40506B"/>
                </a:solidFill>
                <a:latin typeface="Arial"/>
                <a:ea typeface="Arial"/>
                <a:cs typeface="Arial"/>
              </a:defRPr>
            </a:defPPr>
          </a:lstStyle>
          <a:p xmlns:a="http://schemas.openxmlformats.org/drawingml/2006/main">
            <a:pPr>
              <a:defRPr sz="1875" b="0">
                <a:solidFill>
                  <a:srgbClr val="40506B"/>
                </a:solidFill>
                <a:latin typeface="Arial"/>
                <a:ea typeface="Arial"/>
                <a:cs typeface="Arial"/>
              </a:defRPr>
            </a:pPr>
            <a:r>
              <a:rPr sz="1875" b="0">
                <a:solidFill>
                  <a:srgbClr val="40506B"/>
                </a:solidFill>
                <a:latin typeface="Arial"/>
                <a:ea typeface="Arial"/>
                <a:cs typeface="Arial"/>
              </a:rPr>
              <a:t>Des attributs présents ne suffisent pas à prouver la conformité</a:t>
            </a:r>
          </a:p>
        </p:txBody>
      </p:sp>
    </p:spTree>
    <p:extLst>
      <p:ext uri="{BB962C8B-B14F-4D97-AF65-F5344CB8AC3E}">
        <p14:creationId xmlns:p14="http://schemas.microsoft.com/office/powerpoint/2010/main" val="2072374528"/>
      </p:ext>
    </p:extLst>
  </p:cSld>
</p:sld>
</file>

<file path=ppt/slides/slide7.xml><?xml version="1.0" encoding="utf-8"?>
<p:sld xmlns:p="http://schemas.openxmlformats.org/presentationml/2006/main">
  <p:cSld>
    <p:bg>
      <p:bgPr>
        <a:solidFill xmlns:a="http://schemas.openxmlformats.org/drawingml/2006/main">
          <a:srgbClr val="05103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81691F-1EA9-4927-B7DD-D9D42D3587A7}"/>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Versionner et publier le site</a:t>
            </a:r>
          </a:p>
        </p:txBody>
      </p:sp>
      <p:sp>
        <p:nvSpPr>
          <p:cNvPr id="2" name="">
            <a:extLst xmlns:a="http://schemas.openxmlformats.org/drawingml/2006/main">
              <a:ext uri="{FF2B5EF4-FFF2-40B4-BE49-F238E27FC236}">
                <a16:creationId xmlns:a16="http://schemas.microsoft.com/office/drawing/2014/main" id="{260E7DA0-BFA9-4E72-9465-422385DDC620}"/>
              </a:ext>
            </a:extLst>
          </p:cNvPr>
          <p:cNvSpPr>
            <a:spLocks xmlns:a="http://schemas.openxmlformats.org/drawingml/2006/main" noGrp="1"/>
          </p:cNvSpPr>
          <p:nvPr/>
        </p:nvSpPr>
        <p:spPr>
          <a:xfrm xmlns:a="http://schemas.openxmlformats.org/drawingml/2006/main">
            <a:off x="10382250" y="6334125"/>
            <a:ext cx="1123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8C6DD"/>
                </a:solidFill>
                <a:latin typeface="Arial"/>
                <a:ea typeface="Arial"/>
                <a:cs typeface="Arial"/>
              </a:defRPr>
            </a:defPPr>
          </a:lstStyle>
          <a:p xmlns:a="http://schemas.openxmlformats.org/drawingml/2006/main">
            <a:pPr>
              <a:defRPr sz="1275" b="0">
                <a:solidFill>
                  <a:srgbClr val="B8C6DD"/>
                </a:solidFill>
                <a:latin typeface="Arial"/>
                <a:ea typeface="Arial"/>
                <a:cs typeface="Arial"/>
              </a:defRPr>
            </a:pPr>
            <a:r>
              <a:rPr sz="1275" b="0">
                <a:solidFill>
                  <a:srgbClr val="B8C6DD"/>
                </a:solidFill>
                <a:latin typeface="Arial"/>
                <a:ea typeface="Arial"/>
                <a:cs typeface="Arial"/>
              </a:rPr>
              <a:t>07 / 08</a:t>
            </a:r>
          </a:p>
        </p:txBody>
      </p:sp>
      <p:sp>
        <p:nvSpPr>
          <p:cNvPr id="3" name="">
            <a:extLst xmlns:a="http://schemas.openxmlformats.org/drawingml/2006/main">
              <a:ext uri="{FF2B5EF4-FFF2-40B4-BE49-F238E27FC236}">
                <a16:creationId xmlns:a16="http://schemas.microsoft.com/office/drawing/2014/main" id="{21D84183-9A3B-473A-AC77-25362E0BFDB9}"/>
              </a:ext>
            </a:extLst>
          </p:cNvPr>
          <p:cNvSpPr>
            <a:spLocks xmlns:a="http://schemas.openxmlformats.org/drawingml/2006/main" noGrp="1"/>
          </p:cNvSpPr>
          <p:nvPr/>
        </p:nvSpPr>
        <p:spPr>
          <a:xfrm xmlns:a="http://schemas.openxmlformats.org/drawingml/2006/main">
            <a:off x="685800" y="18573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6FBEFF"/>
                </a:solidFill>
                <a:latin typeface="Arial"/>
                <a:ea typeface="Arial"/>
                <a:cs typeface="Arial"/>
              </a:defRPr>
            </a:defPPr>
          </a:lstStyle>
          <a:p xmlns:a="http://schemas.openxmlformats.org/drawingml/2006/main">
            <a:pPr>
              <a:defRPr sz="2250" b="1">
                <a:solidFill>
                  <a:srgbClr val="6FBEFF"/>
                </a:solidFill>
                <a:latin typeface="Arial"/>
                <a:ea typeface="Arial"/>
                <a:cs typeface="Arial"/>
              </a:defRPr>
            </a:pPr>
            <a:r>
              <a:rPr sz="2250" b="1">
                <a:solidFill>
                  <a:srgbClr val="6FBEFF"/>
                </a:solidFill>
                <a:latin typeface="Arial"/>
                <a:ea typeface="Arial"/>
                <a:cs typeface="Arial"/>
              </a:rPr>
              <a:t>Git : conserver les étapes</a:t>
            </a:r>
          </a:p>
        </p:txBody>
      </p:sp>
      <p:sp>
        <p:nvSpPr>
          <p:cNvPr id="4" name="">
            <a:extLst xmlns:a="http://schemas.openxmlformats.org/drawingml/2006/main">
              <a:ext uri="{FF2B5EF4-FFF2-40B4-BE49-F238E27FC236}">
                <a16:creationId xmlns:a16="http://schemas.microsoft.com/office/drawing/2014/main" id="{15C1CE77-C3F0-4681-9A5F-936ED8C49689}"/>
              </a:ext>
            </a:extLst>
          </p:cNvPr>
          <p:cNvSpPr>
            <a:spLocks xmlns:a="http://schemas.openxmlformats.org/drawingml/2006/main" noGrp="1"/>
          </p:cNvSpPr>
          <p:nvPr/>
        </p:nvSpPr>
        <p:spPr>
          <a:xfrm xmlns:a="http://schemas.openxmlformats.org/drawingml/2006/main">
            <a:off x="685800" y="2324100"/>
            <a:ext cx="523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Structure initiale → bilingue → vidéo</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 captures PYJOBS et carrousel</a:t>
            </a:r>
          </a:p>
        </p:txBody>
      </p:sp>
      <p:sp>
        <p:nvSpPr>
          <p:cNvPr id="5" name="">
            <a:extLst xmlns:a="http://schemas.openxmlformats.org/drawingml/2006/main">
              <a:ext uri="{FF2B5EF4-FFF2-40B4-BE49-F238E27FC236}">
                <a16:creationId xmlns:a16="http://schemas.microsoft.com/office/drawing/2014/main" id="{57F83B9B-026F-4EFC-BE85-89F7D893E122}"/>
              </a:ext>
            </a:extLst>
          </p:cNvPr>
          <p:cNvSpPr>
            <a:spLocks xmlns:a="http://schemas.openxmlformats.org/drawingml/2006/main" noGrp="1"/>
          </p:cNvSpPr>
          <p:nvPr/>
        </p:nvSpPr>
        <p:spPr>
          <a:xfrm xmlns:a="http://schemas.openxmlformats.org/drawingml/2006/main">
            <a:off x="685800" y="36957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6FBEFF"/>
                </a:solidFill>
                <a:latin typeface="Arial"/>
                <a:ea typeface="Arial"/>
                <a:cs typeface="Arial"/>
              </a:defRPr>
            </a:defPPr>
          </a:lstStyle>
          <a:p xmlns:a="http://schemas.openxmlformats.org/drawingml/2006/main">
            <a:pPr>
              <a:defRPr sz="2250" b="1">
                <a:solidFill>
                  <a:srgbClr val="6FBEFF"/>
                </a:solidFill>
                <a:latin typeface="Arial"/>
                <a:ea typeface="Arial"/>
                <a:cs typeface="Arial"/>
              </a:defRPr>
            </a:pPr>
            <a:r>
              <a:rPr sz="2250" b="1">
                <a:solidFill>
                  <a:srgbClr val="6FBEFF"/>
                </a:solidFill>
                <a:latin typeface="Arial"/>
                <a:ea typeface="Arial"/>
                <a:cs typeface="Arial"/>
              </a:rPr>
              <a:t>Deux destinations</a:t>
            </a:r>
          </a:p>
        </p:txBody>
      </p:sp>
      <p:sp>
        <p:nvSpPr>
          <p:cNvPr id="6" name="">
            <a:extLst xmlns:a="http://schemas.openxmlformats.org/drawingml/2006/main">
              <a:ext uri="{FF2B5EF4-FFF2-40B4-BE49-F238E27FC236}">
                <a16:creationId xmlns:a16="http://schemas.microsoft.com/office/drawing/2014/main" id="{620D01B9-7C6C-442F-BCA0-BD479D552AEE}"/>
              </a:ext>
            </a:extLst>
          </p:cNvPr>
          <p:cNvSpPr>
            <a:spLocks xmlns:a="http://schemas.openxmlformats.org/drawingml/2006/main" noGrp="1"/>
          </p:cNvSpPr>
          <p:nvPr/>
        </p:nvSpPr>
        <p:spPr>
          <a:xfrm xmlns:a="http://schemas.openxmlformats.org/drawingml/2006/main">
            <a:off x="685800" y="4162425"/>
            <a:ext cx="523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Dépôt Epitech pour le rendu</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Dépôt personnel pour le site public</a:t>
            </a:r>
          </a:p>
        </p:txBody>
      </p:sp>
      <p:sp>
        <p:nvSpPr>
          <p:cNvPr id="7" name="">
            <a:extLst xmlns:a="http://schemas.openxmlformats.org/drawingml/2006/main">
              <a:ext uri="{FF2B5EF4-FFF2-40B4-BE49-F238E27FC236}">
                <a16:creationId xmlns:a16="http://schemas.microsoft.com/office/drawing/2014/main" id="{92A095F3-DE03-44BA-A422-E8D95AD4DC17}"/>
              </a:ext>
            </a:extLst>
          </p:cNvPr>
          <p:cNvSpPr>
            <a:spLocks xmlns:a="http://schemas.openxmlformats.org/drawingml/2006/main" noGrp="1"/>
          </p:cNvSpPr>
          <p:nvPr/>
        </p:nvSpPr>
        <p:spPr>
          <a:xfrm xmlns:a="http://schemas.openxmlformats.org/drawingml/2006/main">
            <a:off x="6762750" y="18954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b="1">
                <a:solidFill>
                  <a:srgbClr val="FFFFFF"/>
                </a:solidFill>
                <a:latin typeface="Arial"/>
                <a:ea typeface="Arial"/>
                <a:cs typeface="Arial"/>
              </a:defRPr>
            </a:def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mehdilrhoula.github.io</a:t>
            </a:r>
          </a:p>
        </p:txBody>
      </p:sp>
      <p:sp>
        <p:nvSpPr>
          <p:cNvPr id="8" name="">
            <a:extLst xmlns:a="http://schemas.openxmlformats.org/drawingml/2006/main">
              <a:ext uri="{FF2B5EF4-FFF2-40B4-BE49-F238E27FC236}">
                <a16:creationId xmlns:a16="http://schemas.microsoft.com/office/drawing/2014/main" id="{39152E5C-335F-4215-84F3-1A782855A45A}"/>
              </a:ext>
            </a:extLst>
          </p:cNvPr>
          <p:cNvSpPr>
            <a:spLocks xmlns:a="http://schemas.openxmlformats.org/drawingml/2006/main" noGrp="1"/>
          </p:cNvSpPr>
          <p:nvPr/>
        </p:nvSpPr>
        <p:spPr>
          <a:xfrm xmlns:a="http://schemas.openxmlformats.org/drawingml/2006/main">
            <a:off x="6762750" y="2809875"/>
            <a:ext cx="476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FFFFFF"/>
                </a:solidFill>
                <a:latin typeface="Arial"/>
                <a:ea typeface="Arial"/>
                <a:cs typeface="Arial"/>
              </a:defRPr>
            </a:def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GitHub Pages</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Branche master • dossier racine</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Publication après les mises à jour</a:t>
            </a:r>
          </a:p>
        </p:txBody>
      </p:sp>
      <p:sp>
        <p:nvSpPr>
          <p:cNvPr id="9" name="">
            <a:extLst xmlns:a="http://schemas.openxmlformats.org/drawingml/2006/main">
              <a:ext uri="{FF2B5EF4-FFF2-40B4-BE49-F238E27FC236}">
                <a16:creationId xmlns:a16="http://schemas.microsoft.com/office/drawing/2014/main" id="{BF1321BE-EBA1-4C4F-846C-31467ED87A15}"/>
              </a:ext>
            </a:extLst>
          </p:cNvPr>
          <p:cNvSpPr>
            <a:spLocks xmlns:a="http://schemas.openxmlformats.org/drawingml/2006/main" noGrp="1"/>
          </p:cNvSpPr>
          <p:nvPr/>
        </p:nvSpPr>
        <p:spPr>
          <a:xfrm xmlns:a="http://schemas.openxmlformats.org/drawingml/2006/main">
            <a:off x="6762750" y="4914900"/>
            <a:ext cx="4762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6FBEFF"/>
                </a:solidFill>
                <a:latin typeface="Arial"/>
                <a:ea typeface="Arial"/>
                <a:cs typeface="Arial"/>
              </a:defRPr>
            </a:defPPr>
          </a:lstStyle>
          <a:p xmlns:a="http://schemas.openxmlformats.org/drawingml/2006/main">
            <a:pPr>
              <a:defRPr sz="1950" b="0">
                <a:solidFill>
                  <a:srgbClr val="6FBEFF"/>
                </a:solidFill>
                <a:latin typeface="Arial"/>
                <a:ea typeface="Arial"/>
                <a:cs typeface="Arial"/>
              </a:defRPr>
            </a:pPr>
            <a:r>
              <a:rPr sz="1950" b="0">
                <a:solidFill>
                  <a:srgbClr val="6FBEFF"/>
                </a:solidFill>
                <a:latin typeface="Arial"/>
                <a:ea typeface="Arial"/>
                <a:cs typeface="Arial"/>
              </a:rPr>
              <a:t>Point résolu : Videos/ ≠ videos/</a:t>
            </a:r>
          </a:p>
          <a:p xmlns:a="http://schemas.openxmlformats.org/drawingml/2006/main">
            <a:pPr>
              <a:defRPr sz="1950" b="0">
                <a:solidFill>
                  <a:srgbClr val="6FBEFF"/>
                </a:solidFill>
                <a:latin typeface="Arial"/>
                <a:ea typeface="Arial"/>
                <a:cs typeface="Arial"/>
              </a:defRPr>
            </a:pPr>
            <a:r>
              <a:rPr sz="1950" b="0">
                <a:solidFill>
                  <a:srgbClr val="6FBEFF"/>
                </a:solidFill>
                <a:latin typeface="Arial"/>
                <a:ea typeface="Arial"/>
                <a:cs typeface="Arial"/>
              </a:rPr>
              <a:t>La casse des chemins compte en ligne</a:t>
            </a:r>
          </a:p>
        </p:txBody>
      </p:sp>
    </p:spTree>
    <p:extLst>
      <p:ext uri="{BB962C8B-B14F-4D97-AF65-F5344CB8AC3E}">
        <p14:creationId xmlns:p14="http://schemas.microsoft.com/office/powerpoint/2010/main" val="1891193230"/>
      </p:ext>
    </p:extLst>
  </p:cSld>
</p:sld>
</file>

<file path=ppt/slides/slide8.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1CC68C-9E0D-4770-BC55-BA22612E55C5}"/>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051039"/>
                </a:solidFill>
                <a:latin typeface="Arial"/>
                <a:ea typeface="Arial"/>
                <a:cs typeface="Arial"/>
              </a:defRPr>
            </a:defPPr>
          </a:lstStyle>
          <a:p xmlns:a="http://schemas.openxmlformats.org/drawingml/2006/main">
            <a:pPr>
              <a:defRPr sz="3300" b="1">
                <a:solidFill>
                  <a:srgbClr val="051039"/>
                </a:solidFill>
                <a:latin typeface="Arial"/>
                <a:ea typeface="Arial"/>
                <a:cs typeface="Arial"/>
              </a:defRPr>
            </a:pPr>
            <a:r>
              <a:rPr sz="3300" b="1">
                <a:solidFill>
                  <a:srgbClr val="051039"/>
                </a:solidFill>
                <a:latin typeface="Arial"/>
                <a:ea typeface="Arial"/>
                <a:cs typeface="Arial"/>
              </a:rPr>
              <a:t>Bilan du développement et prochaines étapes</a:t>
            </a:r>
          </a:p>
        </p:txBody>
      </p:sp>
      <p:sp>
        <p:nvSpPr>
          <p:cNvPr id="2" name="">
            <a:extLst xmlns:a="http://schemas.openxmlformats.org/drawingml/2006/main">
              <a:ext uri="{FF2B5EF4-FFF2-40B4-BE49-F238E27FC236}">
                <a16:creationId xmlns:a16="http://schemas.microsoft.com/office/drawing/2014/main" id="{1638C3B8-BDDB-46AC-AA93-881D7AB6BEB7}"/>
              </a:ext>
            </a:extLst>
          </p:cNvPr>
          <p:cNvSpPr>
            <a:spLocks xmlns:a="http://schemas.openxmlformats.org/drawingml/2006/main" noGrp="1"/>
          </p:cNvSpPr>
          <p:nvPr/>
        </p:nvSpPr>
        <p:spPr>
          <a:xfrm xmlns:a="http://schemas.openxmlformats.org/drawingml/2006/main">
            <a:off x="10382250" y="6334125"/>
            <a:ext cx="1123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40506B"/>
                </a:solidFill>
                <a:latin typeface="Arial"/>
                <a:ea typeface="Arial"/>
                <a:cs typeface="Arial"/>
              </a:defRPr>
            </a:defPPr>
          </a:lstStyle>
          <a:p xmlns:a="http://schemas.openxmlformats.org/drawingml/2006/main">
            <a:pPr>
              <a:defRPr sz="1275" b="0">
                <a:solidFill>
                  <a:srgbClr val="40506B"/>
                </a:solidFill>
                <a:latin typeface="Arial"/>
                <a:ea typeface="Arial"/>
                <a:cs typeface="Arial"/>
              </a:defRPr>
            </a:pPr>
            <a:r>
              <a:rPr sz="1275" b="0">
                <a:solidFill>
                  <a:srgbClr val="40506B"/>
                </a:solidFill>
                <a:latin typeface="Arial"/>
                <a:ea typeface="Arial"/>
                <a:cs typeface="Arial"/>
              </a:rPr>
              <a:t>08 / 08</a:t>
            </a:r>
          </a:p>
        </p:txBody>
      </p:sp>
      <p:sp>
        <p:nvSpPr>
          <p:cNvPr id="3" name="">
            <a:extLst xmlns:a="http://schemas.openxmlformats.org/drawingml/2006/main">
              <a:ext uri="{FF2B5EF4-FFF2-40B4-BE49-F238E27FC236}">
                <a16:creationId xmlns:a16="http://schemas.microsoft.com/office/drawing/2014/main" id="{0B3162A8-41DC-4402-800C-569E07881D29}"/>
              </a:ext>
            </a:extLst>
          </p:cNvPr>
          <p:cNvSpPr>
            <a:spLocks xmlns:a="http://schemas.openxmlformats.org/drawingml/2006/main" noGrp="1"/>
          </p:cNvSpPr>
          <p:nvPr/>
        </p:nvSpPr>
        <p:spPr>
          <a:xfrm xmlns:a="http://schemas.openxmlformats.org/drawingml/2006/main">
            <a:off x="685800" y="18478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008CFF"/>
                </a:solidFill>
                <a:latin typeface="Arial"/>
                <a:ea typeface="Arial"/>
                <a:cs typeface="Arial"/>
              </a:defRPr>
            </a:defPPr>
          </a:lstStyle>
          <a:p xmlns:a="http://schemas.openxmlformats.org/drawingml/2006/main">
            <a:pPr>
              <a:defRPr sz="2250" b="1">
                <a:solidFill>
                  <a:srgbClr val="008CFF"/>
                </a:solidFill>
                <a:latin typeface="Arial"/>
                <a:ea typeface="Arial"/>
                <a:cs typeface="Arial"/>
              </a:defRPr>
            </a:pPr>
            <a:r>
              <a:rPr sz="2250" b="1">
                <a:solidFill>
                  <a:srgbClr val="008CFF"/>
                </a:solidFill>
                <a:latin typeface="Arial"/>
                <a:ea typeface="Arial"/>
                <a:cs typeface="Arial"/>
              </a:rPr>
              <a:t>Retours pris en compte</a:t>
            </a:r>
          </a:p>
        </p:txBody>
      </p:sp>
      <p:sp>
        <p:nvSpPr>
          <p:cNvPr id="4" name="">
            <a:extLst xmlns:a="http://schemas.openxmlformats.org/drawingml/2006/main">
              <a:ext uri="{FF2B5EF4-FFF2-40B4-BE49-F238E27FC236}">
                <a16:creationId xmlns:a16="http://schemas.microsoft.com/office/drawing/2014/main" id="{9BA480A4-2B55-4879-8423-8636B6449AC2}"/>
              </a:ext>
            </a:extLst>
          </p:cNvPr>
          <p:cNvSpPr>
            <a:spLocks xmlns:a="http://schemas.openxmlformats.org/drawingml/2006/main" noGrp="1"/>
          </p:cNvSpPr>
          <p:nvPr/>
        </p:nvSpPr>
        <p:spPr>
          <a:xfrm xmlns:a="http://schemas.openxmlformats.org/drawingml/2006/main">
            <a:off x="685800" y="231457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51039"/>
                </a:solidFill>
                <a:latin typeface="Arial"/>
                <a:ea typeface="Arial"/>
                <a:cs typeface="Arial"/>
              </a:defRPr>
            </a:defPPr>
          </a:lstStyle>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CV téléchargeable, médias intégrés,</a:t>
            </a:r>
          </a:p>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bilingue et adresse publique personnelle</a:t>
            </a:r>
          </a:p>
        </p:txBody>
      </p:sp>
      <p:sp>
        <p:nvSpPr>
          <p:cNvPr id="5" name="">
            <a:extLst xmlns:a="http://schemas.openxmlformats.org/drawingml/2006/main">
              <a:ext uri="{FF2B5EF4-FFF2-40B4-BE49-F238E27FC236}">
                <a16:creationId xmlns:a16="http://schemas.microsoft.com/office/drawing/2014/main" id="{551A5405-25DF-4452-B77E-965652C25FD9}"/>
              </a:ext>
            </a:extLst>
          </p:cNvPr>
          <p:cNvSpPr>
            <a:spLocks xmlns:a="http://schemas.openxmlformats.org/drawingml/2006/main" noGrp="1"/>
          </p:cNvSpPr>
          <p:nvPr/>
        </p:nvSpPr>
        <p:spPr>
          <a:xfrm xmlns:a="http://schemas.openxmlformats.org/drawingml/2006/main">
            <a:off x="685800" y="34194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008CFF"/>
                </a:solidFill>
                <a:latin typeface="Arial"/>
                <a:ea typeface="Arial"/>
                <a:cs typeface="Arial"/>
              </a:defRPr>
            </a:defPPr>
          </a:lstStyle>
          <a:p xmlns:a="http://schemas.openxmlformats.org/drawingml/2006/main">
            <a:pPr>
              <a:defRPr sz="2250" b="1">
                <a:solidFill>
                  <a:srgbClr val="008CFF"/>
                </a:solidFill>
                <a:latin typeface="Arial"/>
                <a:ea typeface="Arial"/>
                <a:cs typeface="Arial"/>
              </a:defRPr>
            </a:pPr>
            <a:r>
              <a:rPr sz="2250" b="1">
                <a:solidFill>
                  <a:srgbClr val="008CFF"/>
                </a:solidFill>
                <a:latin typeface="Arial"/>
                <a:ea typeface="Arial"/>
                <a:cs typeface="Arial"/>
              </a:rPr>
              <a:t>Ce que je retiens</a:t>
            </a:r>
          </a:p>
        </p:txBody>
      </p:sp>
      <p:sp>
        <p:nvSpPr>
          <p:cNvPr id="6" name="">
            <a:extLst xmlns:a="http://schemas.openxmlformats.org/drawingml/2006/main">
              <a:ext uri="{FF2B5EF4-FFF2-40B4-BE49-F238E27FC236}">
                <a16:creationId xmlns:a16="http://schemas.microsoft.com/office/drawing/2014/main" id="{4DF67912-96FF-40E9-8A0A-A904F8B4DA66}"/>
              </a:ext>
            </a:extLst>
          </p:cNvPr>
          <p:cNvSpPr>
            <a:spLocks xmlns:a="http://schemas.openxmlformats.org/drawingml/2006/main" noGrp="1"/>
          </p:cNvSpPr>
          <p:nvPr/>
        </p:nvSpPr>
        <p:spPr>
          <a:xfrm xmlns:a="http://schemas.openxmlformats.org/drawingml/2006/main">
            <a:off x="685800" y="3886200"/>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51039"/>
                </a:solidFill>
                <a:latin typeface="Arial"/>
                <a:ea typeface="Arial"/>
                <a:cs typeface="Arial"/>
              </a:defRPr>
            </a:defPPr>
          </a:lstStyle>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Vérifier les chemins, tester la version publiée</a:t>
            </a:r>
          </a:p>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et garder le code et les dépôts cohérents</a:t>
            </a:r>
          </a:p>
        </p:txBody>
      </p:sp>
      <p:sp>
        <p:nvSpPr>
          <p:cNvPr id="7" name="">
            <a:extLst xmlns:a="http://schemas.openxmlformats.org/drawingml/2006/main">
              <a:ext uri="{FF2B5EF4-FFF2-40B4-BE49-F238E27FC236}">
                <a16:creationId xmlns:a16="http://schemas.microsoft.com/office/drawing/2014/main" id="{5C87274E-D46F-4C0A-A294-794394CC9D5A}"/>
              </a:ext>
            </a:extLst>
          </p:cNvPr>
          <p:cNvSpPr>
            <a:spLocks xmlns:a="http://schemas.openxmlformats.org/drawingml/2006/main" noGrp="1"/>
          </p:cNvSpPr>
          <p:nvPr/>
        </p:nvSpPr>
        <p:spPr>
          <a:xfrm xmlns:a="http://schemas.openxmlformats.org/drawingml/2006/main">
            <a:off x="685800" y="49911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008CFF"/>
                </a:solidFill>
                <a:latin typeface="Arial"/>
                <a:ea typeface="Arial"/>
                <a:cs typeface="Arial"/>
              </a:defRPr>
            </a:defPPr>
          </a:lstStyle>
          <a:p xmlns:a="http://schemas.openxmlformats.org/drawingml/2006/main">
            <a:pPr>
              <a:defRPr sz="2250" b="1">
                <a:solidFill>
                  <a:srgbClr val="008CFF"/>
                </a:solidFill>
                <a:latin typeface="Arial"/>
                <a:ea typeface="Arial"/>
                <a:cs typeface="Arial"/>
              </a:defRPr>
            </a:pPr>
            <a:r>
              <a:rPr sz="2250" b="1">
                <a:solidFill>
                  <a:srgbClr val="008CFF"/>
                </a:solidFill>
                <a:latin typeface="Arial"/>
                <a:ea typeface="Arial"/>
                <a:cs typeface="Arial"/>
              </a:rPr>
              <a:t>Mes prochaines priorités</a:t>
            </a:r>
          </a:p>
        </p:txBody>
      </p:sp>
      <p:sp>
        <p:nvSpPr>
          <p:cNvPr id="8" name="">
            <a:extLst xmlns:a="http://schemas.openxmlformats.org/drawingml/2006/main">
              <a:ext uri="{FF2B5EF4-FFF2-40B4-BE49-F238E27FC236}">
                <a16:creationId xmlns:a16="http://schemas.microsoft.com/office/drawing/2014/main" id="{8B8C7B20-377E-448B-A8EB-55CBB985DFCC}"/>
              </a:ext>
            </a:extLst>
          </p:cNvPr>
          <p:cNvSpPr>
            <a:spLocks xmlns:a="http://schemas.openxmlformats.org/drawingml/2006/main" noGrp="1"/>
          </p:cNvSpPr>
          <p:nvPr/>
        </p:nvSpPr>
        <p:spPr>
          <a:xfrm xmlns:a="http://schemas.openxmlformats.org/drawingml/2006/main">
            <a:off x="685800" y="54578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51039"/>
                </a:solidFill>
                <a:latin typeface="Arial"/>
                <a:ea typeface="Arial"/>
                <a:cs typeface="Arial"/>
              </a:defRPr>
            </a:defPPr>
          </a:lstStyle>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Finaliser le contact, auditer l’accessibilité</a:t>
            </a:r>
          </a:p>
          <a:p xmlns:a="http://schemas.openxmlformats.org/drawingml/2006/main">
            <a:pPr>
              <a:defRPr sz="1875" b="0">
                <a:solidFill>
                  <a:srgbClr val="051039"/>
                </a:solidFill>
                <a:latin typeface="Arial"/>
                <a:ea typeface="Arial"/>
                <a:cs typeface="Arial"/>
              </a:defRPr>
            </a:pPr>
            <a:r>
              <a:rPr sz="1875" b="0">
                <a:solidFill>
                  <a:srgbClr val="051039"/>
                </a:solidFill>
                <a:latin typeface="Arial"/>
                <a:ea typeface="Arial"/>
                <a:cs typeface="Arial"/>
              </a:rPr>
              <a:t>et les performances, enrichir les autres projets</a:t>
            </a:r>
          </a:p>
        </p:txBody>
      </p:sp>
    </p:spTree>
    <p:extLst>
      <p:ext uri="{BB962C8B-B14F-4D97-AF65-F5344CB8AC3E}">
        <p14:creationId xmlns:p14="http://schemas.microsoft.com/office/powerpoint/2010/main" val="5274417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2026-10-28T09:19:07.4430000Z</dcterms:created>
  <dcterms:modified xsi:type="dcterms:W3CDTF">2026-10-28T09:19:07.4430000Z</dcterms:modified>
</coreProperties>
</file>